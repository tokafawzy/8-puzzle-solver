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sldSz cx="8026400" cy="4508500"/>
  <p:notesSz cx="8026400" cy="45085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-1536" y="-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601980" y="1397635"/>
            <a:ext cx="6822440" cy="94678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750" b="1" i="0">
                <a:solidFill>
                  <a:srgbClr val="2DC75C"/>
                </a:solidFill>
                <a:latin typeface="Arial" panose="020B0604020202020204"/>
                <a:cs typeface="Arial" panose="020B060402020202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203960" y="2524760"/>
            <a:ext cx="5618480" cy="11271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500" b="0" i="0">
                <a:solidFill>
                  <a:schemeClr val="tx1"/>
                </a:solidFill>
                <a:latin typeface="Lucida Sans Unicode" panose="020B0602030504020204"/>
                <a:cs typeface="Lucida Sans Unicode" panose="020B0602030504020204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750" b="1" i="0">
                <a:solidFill>
                  <a:srgbClr val="2DC75C"/>
                </a:solidFill>
                <a:latin typeface="Arial" panose="020B0604020202020204"/>
                <a:cs typeface="Arial" panose="020B060402020202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500" b="0" i="0">
                <a:solidFill>
                  <a:schemeClr val="tx1"/>
                </a:solidFill>
                <a:latin typeface="Lucida Sans Unicode" panose="020B0602030504020204"/>
                <a:cs typeface="Lucida Sans Unicode" panose="020B0602030504020204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750" b="1" i="0">
                <a:solidFill>
                  <a:srgbClr val="2DC75C"/>
                </a:solidFill>
                <a:latin typeface="Arial" panose="020B0604020202020204"/>
                <a:cs typeface="Arial" panose="020B060402020202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01320" y="1036955"/>
            <a:ext cx="3491484" cy="29756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133596" y="1036955"/>
            <a:ext cx="3491484" cy="29756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750" b="1" i="0">
                <a:solidFill>
                  <a:srgbClr val="2DC75C"/>
                </a:solidFill>
                <a:latin typeface="Arial" panose="020B0604020202020204"/>
                <a:cs typeface="Arial" panose="020B060402020202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72674" y="135232"/>
            <a:ext cx="7681050" cy="7483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750" b="1" i="0">
                <a:solidFill>
                  <a:srgbClr val="2DC75C"/>
                </a:solidFill>
                <a:latin typeface="Arial" panose="020B0604020202020204"/>
                <a:cs typeface="Arial" panose="020B060402020202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29915" y="794705"/>
            <a:ext cx="7134225" cy="220154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500" b="0" i="0">
                <a:solidFill>
                  <a:schemeClr val="tx1"/>
                </a:solidFill>
                <a:latin typeface="Lucida Sans Unicode" panose="020B0602030504020204"/>
                <a:cs typeface="Lucida Sans Unicode" panose="020B0602030504020204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728976" y="4192905"/>
            <a:ext cx="2568448" cy="2254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01320" y="4192905"/>
            <a:ext cx="1846072" cy="2254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779008" y="4192905"/>
            <a:ext cx="1846072" cy="2254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8020050" cy="4508500"/>
          </a:xfrm>
          <a:custGeom>
            <a:avLst/>
            <a:gdLst/>
            <a:ahLst/>
            <a:cxnLst/>
            <a:rect l="l" t="t" r="r" b="b"/>
            <a:pathLst>
              <a:path w="8020050" h="4508500">
                <a:moveTo>
                  <a:pt x="8020049" y="4507991"/>
                </a:moveTo>
                <a:lnTo>
                  <a:pt x="0" y="4507991"/>
                </a:lnTo>
                <a:lnTo>
                  <a:pt x="0" y="0"/>
                </a:lnTo>
                <a:lnTo>
                  <a:pt x="8020049" y="0"/>
                </a:lnTo>
                <a:lnTo>
                  <a:pt x="8020049" y="4507991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303772" y="1950996"/>
            <a:ext cx="3334385" cy="5524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400" spc="-45" dirty="0"/>
              <a:t>8</a:t>
            </a:r>
            <a:r>
              <a:rPr sz="3350" spc="-45" dirty="0">
                <a:latin typeface="Verdana" panose="020B0604030504040204"/>
                <a:cs typeface="Verdana" panose="020B0604030504040204"/>
              </a:rPr>
              <a:t>-</a:t>
            </a:r>
            <a:r>
              <a:rPr sz="3450" spc="-190" dirty="0"/>
              <a:t>P</a:t>
            </a:r>
            <a:r>
              <a:rPr sz="3400" spc="-190" dirty="0"/>
              <a:t>uzz</a:t>
            </a:r>
            <a:r>
              <a:rPr sz="3450" spc="-190" dirty="0"/>
              <a:t>le</a:t>
            </a:r>
            <a:r>
              <a:rPr sz="3450" spc="-235" dirty="0"/>
              <a:t> </a:t>
            </a:r>
            <a:r>
              <a:rPr sz="3450" spc="-200" dirty="0"/>
              <a:t>Problem</a:t>
            </a:r>
            <a:endParaRPr sz="3450">
              <a:latin typeface="Verdana" panose="020B0604030504040204"/>
              <a:cs typeface="Verdana" panose="020B0604030504040204"/>
            </a:endParaRPr>
          </a:p>
        </p:txBody>
      </p:sp>
      <p:pic>
        <p:nvPicPr>
          <p:cNvPr id="4" name="object 4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3795353" y="0"/>
            <a:ext cx="4224696" cy="450799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40257" y="443498"/>
            <a:ext cx="1485265" cy="44005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2700" spc="-75" dirty="0"/>
              <a:t>O</a:t>
            </a:r>
            <a:r>
              <a:rPr sz="2650" spc="-75" dirty="0">
                <a:latin typeface="Trebuchet MS" panose="020B0603020202020204"/>
                <a:cs typeface="Trebuchet MS" panose="020B0603020202020204"/>
              </a:rPr>
              <a:t>u</a:t>
            </a:r>
            <a:r>
              <a:rPr sz="2700" spc="-75" dirty="0"/>
              <a:t>r</a:t>
            </a:r>
            <a:r>
              <a:rPr sz="2700" spc="-325" dirty="0"/>
              <a:t> </a:t>
            </a:r>
            <a:r>
              <a:rPr sz="2700" spc="-110" dirty="0"/>
              <a:t>Team</a:t>
            </a:r>
            <a:endParaRPr sz="2700">
              <a:latin typeface="Trebuchet MS" panose="020B0603020202020204"/>
              <a:cs typeface="Trebuchet MS" panose="020B0603020202020204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826643" y="1547287"/>
            <a:ext cx="822960" cy="199390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z="1100" spc="-90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Toka</a:t>
            </a:r>
            <a:r>
              <a:rPr sz="1100" spc="-65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1100" spc="-30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fawzy</a:t>
            </a:r>
            <a:endParaRPr sz="1100">
              <a:latin typeface="Arial Black" panose="020B0A04020102020204"/>
              <a:cs typeface="Arial Black" panose="020B0A04020102020204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63002" y="1974549"/>
            <a:ext cx="1007110" cy="6280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lnSpc>
                <a:spcPct val="120000"/>
              </a:lnSpc>
              <a:spcBef>
                <a:spcPts val="100"/>
              </a:spcBef>
            </a:pPr>
            <a:r>
              <a:rPr sz="110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Implement</a:t>
            </a:r>
            <a:r>
              <a:rPr sz="1100" spc="-6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00" spc="-2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the </a:t>
            </a:r>
            <a:r>
              <a:rPr sz="11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problem</a:t>
            </a:r>
            <a:r>
              <a:rPr sz="1100" spc="-7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00" spc="-2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with </a:t>
            </a:r>
            <a:r>
              <a:rPr sz="1100" spc="-2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A*</a:t>
            </a:r>
            <a:endParaRPr sz="1100">
              <a:latin typeface="Lucida Sans Unicode" panose="020B0602030504020204"/>
              <a:cs typeface="Lucida Sans Unicode" panose="020B0602030504020204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091407" y="1547287"/>
            <a:ext cx="974725" cy="199390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z="1100" spc="-20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Mariam</a:t>
            </a:r>
            <a:r>
              <a:rPr sz="1100" spc="-50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1100" spc="-45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Ehab</a:t>
            </a:r>
            <a:endParaRPr sz="1100">
              <a:latin typeface="Arial Black" panose="020B0A04020102020204"/>
              <a:cs typeface="Arial Black" panose="020B0A04020102020204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075068" y="1974549"/>
            <a:ext cx="1007110" cy="6280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lnSpc>
                <a:spcPct val="120000"/>
              </a:lnSpc>
              <a:spcBef>
                <a:spcPts val="100"/>
              </a:spcBef>
            </a:pPr>
            <a:r>
              <a:rPr sz="110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Implement</a:t>
            </a:r>
            <a:r>
              <a:rPr sz="1100" spc="-6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00" spc="-2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the </a:t>
            </a:r>
            <a:r>
              <a:rPr sz="11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problem</a:t>
            </a:r>
            <a:r>
              <a:rPr sz="1100" spc="-7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00" spc="-2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with GBFS</a:t>
            </a:r>
            <a:endParaRPr sz="1100">
              <a:latin typeface="Lucida Sans Unicode" panose="020B0602030504020204"/>
              <a:cs typeface="Lucida Sans Unicode" panose="020B0602030504020204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311257" y="1547287"/>
            <a:ext cx="1105535" cy="199390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z="1100" spc="-25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Mennah</a:t>
            </a:r>
            <a:r>
              <a:rPr sz="1100" spc="-40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1100" spc="-35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Ragab</a:t>
            </a:r>
            <a:endParaRPr sz="1100">
              <a:latin typeface="Arial Black" panose="020B0A04020102020204"/>
              <a:cs typeface="Arial Black" panose="020B0A04020102020204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360283" y="1974549"/>
            <a:ext cx="1007110" cy="6280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5080" algn="ctr">
              <a:lnSpc>
                <a:spcPct val="120000"/>
              </a:lnSpc>
              <a:spcBef>
                <a:spcPts val="100"/>
              </a:spcBef>
            </a:pPr>
            <a:r>
              <a:rPr sz="110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Implement</a:t>
            </a:r>
            <a:r>
              <a:rPr sz="1100" spc="-6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00" spc="-2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the </a:t>
            </a:r>
            <a:r>
              <a:rPr sz="11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problem</a:t>
            </a:r>
            <a:r>
              <a:rPr sz="1100" spc="-7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00" spc="-2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with </a:t>
            </a:r>
            <a:r>
              <a:rPr sz="1100" spc="-2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BFS</a:t>
            </a:r>
            <a:endParaRPr sz="1100">
              <a:latin typeface="Lucida Sans Unicode" panose="020B0602030504020204"/>
              <a:cs typeface="Lucida Sans Unicode" panose="020B0602030504020204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2508109" y="1547287"/>
            <a:ext cx="1032510" cy="199390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z="1100" spc="-20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Mariam</a:t>
            </a:r>
            <a:r>
              <a:rPr sz="1100" spc="-35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1100" spc="-60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Fasile</a:t>
            </a:r>
            <a:endParaRPr sz="1100">
              <a:latin typeface="Arial Black" panose="020B0A04020102020204"/>
              <a:cs typeface="Arial Black" panose="020B0A04020102020204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538912" y="1974549"/>
            <a:ext cx="1007110" cy="6280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lnSpc>
                <a:spcPct val="120000"/>
              </a:lnSpc>
              <a:spcBef>
                <a:spcPts val="100"/>
              </a:spcBef>
            </a:pPr>
            <a:r>
              <a:rPr sz="110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Implement</a:t>
            </a:r>
            <a:r>
              <a:rPr sz="1100" spc="-6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00" spc="-2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the </a:t>
            </a:r>
            <a:r>
              <a:rPr sz="11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problem</a:t>
            </a:r>
            <a:r>
              <a:rPr sz="1100" spc="-7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00" spc="-2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with </a:t>
            </a:r>
            <a:r>
              <a:rPr sz="1100" spc="-2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IDS</a:t>
            </a:r>
            <a:endParaRPr sz="1100">
              <a:latin typeface="Lucida Sans Unicode" panose="020B0602030504020204"/>
              <a:cs typeface="Lucida Sans Unicode" panose="020B060203050402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99166" rIns="0" bIns="0" rtlCol="0">
            <a:spAutoFit/>
          </a:bodyPr>
          <a:lstStyle/>
          <a:p>
            <a:pPr marL="89535">
              <a:lnSpc>
                <a:spcPct val="100000"/>
              </a:lnSpc>
              <a:spcBef>
                <a:spcPts val="105"/>
              </a:spcBef>
            </a:pPr>
            <a:r>
              <a:rPr sz="2550" b="0" spc="-125" dirty="0">
                <a:latin typeface="Arial Black" panose="020B0A04020102020204"/>
                <a:cs typeface="Arial Black" panose="020B0A04020102020204"/>
              </a:rPr>
              <a:t>Problem</a:t>
            </a:r>
            <a:r>
              <a:rPr sz="2550" b="0" spc="-170" dirty="0">
                <a:latin typeface="Arial Black" panose="020B0A04020102020204"/>
                <a:cs typeface="Arial Black" panose="020B0A04020102020204"/>
              </a:rPr>
              <a:t> </a:t>
            </a:r>
            <a:r>
              <a:rPr sz="2550" b="0" spc="-125" dirty="0">
                <a:latin typeface="Arial Black" panose="020B0A04020102020204"/>
                <a:cs typeface="Arial Black" panose="020B0A04020102020204"/>
              </a:rPr>
              <a:t>Description</a:t>
            </a:r>
            <a:endParaRPr sz="2550">
              <a:latin typeface="Arial Black" panose="020B0A04020102020204"/>
              <a:cs typeface="Arial Black" panose="020B0A04020102020204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90750" y="1021044"/>
            <a:ext cx="3176905" cy="17164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3340">
              <a:lnSpc>
                <a:spcPct val="121000"/>
              </a:lnSpc>
              <a:spcBef>
                <a:spcPts val="95"/>
              </a:spcBef>
            </a:pPr>
            <a:r>
              <a:rPr sz="1150" spc="-3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The</a:t>
            </a:r>
            <a:r>
              <a:rPr sz="1150" spc="-6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50" spc="-7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8</a:t>
            </a:r>
            <a:r>
              <a:rPr sz="1150" spc="-5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50" spc="-3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Puzzle</a:t>
            </a:r>
            <a:r>
              <a:rPr sz="1150" spc="-5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5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Problem</a:t>
            </a:r>
            <a:r>
              <a:rPr sz="1150" spc="-6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50" spc="-4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is</a:t>
            </a:r>
            <a:r>
              <a:rPr sz="1150" spc="-5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5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a</a:t>
            </a:r>
            <a:r>
              <a:rPr sz="1150" spc="-5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50" spc="-3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classic</a:t>
            </a:r>
            <a:r>
              <a:rPr sz="1150" spc="-6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5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problem</a:t>
            </a:r>
            <a:r>
              <a:rPr sz="1150" spc="-5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50" spc="-2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in artificial</a:t>
            </a:r>
            <a:r>
              <a:rPr sz="1150" spc="-4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50" spc="-2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intelligence</a:t>
            </a:r>
            <a:r>
              <a:rPr sz="1150" spc="-4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5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(AI)</a:t>
            </a:r>
            <a:r>
              <a:rPr sz="1150" spc="-4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5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and</a:t>
            </a:r>
            <a:r>
              <a:rPr sz="1150" spc="-4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is</a:t>
            </a:r>
            <a:r>
              <a:rPr sz="1150" spc="-4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5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often</a:t>
            </a:r>
            <a:r>
              <a:rPr sz="1150" spc="-4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5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used</a:t>
            </a:r>
            <a:r>
              <a:rPr sz="1150" spc="-4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50" spc="-2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to </a:t>
            </a:r>
            <a:r>
              <a:rPr sz="115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teach</a:t>
            </a:r>
            <a:r>
              <a:rPr sz="1150" spc="-2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50" spc="-5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problem-</a:t>
            </a:r>
            <a:r>
              <a:rPr sz="1150" spc="-2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solving</a:t>
            </a:r>
            <a:r>
              <a:rPr sz="1150" spc="-2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5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techniques, </a:t>
            </a:r>
            <a:r>
              <a:rPr sz="1150" spc="-2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particularly</a:t>
            </a:r>
            <a:r>
              <a:rPr sz="1150" spc="-5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50" spc="-2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in</a:t>
            </a:r>
            <a:r>
              <a:rPr sz="1150" spc="-5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5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the</a:t>
            </a:r>
            <a:r>
              <a:rPr sz="1150" spc="-5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5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areas</a:t>
            </a:r>
            <a:r>
              <a:rPr sz="1150" spc="-5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50" spc="-2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of</a:t>
            </a:r>
            <a:r>
              <a:rPr sz="1150" spc="-5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5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search</a:t>
            </a:r>
            <a:r>
              <a:rPr sz="1150" spc="-5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5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algorithms </a:t>
            </a:r>
            <a:r>
              <a:rPr sz="115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and</a:t>
            </a:r>
            <a:r>
              <a:rPr sz="1150" spc="-4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50" spc="-2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heuristic</a:t>
            </a:r>
            <a:r>
              <a:rPr sz="1150" spc="-4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5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optimization.</a:t>
            </a:r>
            <a:endParaRPr sz="1150">
              <a:latin typeface="Lucida Sans Unicode" panose="020B0602030504020204"/>
              <a:cs typeface="Lucida Sans Unicode" panose="020B0602030504020204"/>
            </a:endParaRPr>
          </a:p>
          <a:p>
            <a:pPr marL="12700" marR="5080">
              <a:lnSpc>
                <a:spcPct val="121000"/>
              </a:lnSpc>
              <a:spcBef>
                <a:spcPts val="1665"/>
              </a:spcBef>
            </a:pPr>
            <a:r>
              <a:rPr sz="115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It</a:t>
            </a:r>
            <a:r>
              <a:rPr sz="1150" spc="-6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50" spc="-3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consists</a:t>
            </a:r>
            <a:r>
              <a:rPr sz="1150" spc="-5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50" spc="-2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of</a:t>
            </a:r>
            <a:r>
              <a:rPr sz="1150" spc="-6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5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a</a:t>
            </a:r>
            <a:r>
              <a:rPr sz="1150" spc="-5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50" spc="-7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3x3</a:t>
            </a:r>
            <a:r>
              <a:rPr sz="1150" spc="-6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5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grid</a:t>
            </a:r>
            <a:r>
              <a:rPr sz="1150" spc="-5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5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with</a:t>
            </a:r>
            <a:r>
              <a:rPr sz="1150" spc="-6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50" spc="-7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8</a:t>
            </a:r>
            <a:r>
              <a:rPr sz="1150" spc="-5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5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numbered</a:t>
            </a:r>
            <a:r>
              <a:rPr sz="1150" spc="-6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50" spc="-2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tiles </a:t>
            </a:r>
            <a:r>
              <a:rPr sz="115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and</a:t>
            </a:r>
            <a:r>
              <a:rPr sz="1150" spc="-7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5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one</a:t>
            </a:r>
            <a:r>
              <a:rPr sz="1150" spc="-7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5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empty</a:t>
            </a:r>
            <a:r>
              <a:rPr sz="1150" spc="-7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5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space.</a:t>
            </a:r>
            <a:endParaRPr sz="1150">
              <a:latin typeface="Lucida Sans Unicode" panose="020B0602030504020204"/>
              <a:cs typeface="Lucida Sans Unicode" panose="020B0602030504020204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809505" y="-4056"/>
            <a:ext cx="4215130" cy="4516120"/>
            <a:chOff x="3809505" y="-4056"/>
            <a:chExt cx="4215130" cy="4516120"/>
          </a:xfrm>
        </p:grpSpPr>
        <p:pic>
          <p:nvPicPr>
            <p:cNvPr id="5" name="object 5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3813562" y="0"/>
              <a:ext cx="4206477" cy="4507992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3813562" y="0"/>
              <a:ext cx="4206875" cy="4508500"/>
            </a:xfrm>
            <a:custGeom>
              <a:avLst/>
              <a:gdLst/>
              <a:ahLst/>
              <a:cxnLst/>
              <a:rect l="l" t="t" r="r" b="b"/>
              <a:pathLst>
                <a:path w="4206875" h="4508500">
                  <a:moveTo>
                    <a:pt x="0" y="4507991"/>
                  </a:moveTo>
                  <a:lnTo>
                    <a:pt x="0" y="0"/>
                  </a:lnTo>
                  <a:lnTo>
                    <a:pt x="4206487" y="0"/>
                  </a:lnTo>
                  <a:lnTo>
                    <a:pt x="4206476" y="4507991"/>
                  </a:lnTo>
                </a:path>
              </a:pathLst>
            </a:custGeom>
            <a:ln w="8113">
              <a:solidFill>
                <a:srgbClr val="D9D9D9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766927" y="1603187"/>
            <a:ext cx="1482725" cy="88265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213995">
              <a:lnSpc>
                <a:spcPct val="100000"/>
              </a:lnSpc>
              <a:spcBef>
                <a:spcPts val="130"/>
              </a:spcBef>
            </a:pPr>
            <a:r>
              <a:rPr sz="1500" spc="-85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Goal</a:t>
            </a:r>
            <a:r>
              <a:rPr sz="1500" spc="-90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1500" spc="-20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Test</a:t>
            </a:r>
            <a:endParaRPr sz="1500">
              <a:latin typeface="Arial Black" panose="020B0A04020102020204"/>
              <a:cs typeface="Arial Black" panose="020B0A04020102020204"/>
            </a:endParaRPr>
          </a:p>
          <a:p>
            <a:pPr marL="168910" marR="5080" indent="-156845">
              <a:lnSpc>
                <a:spcPct val="119000"/>
              </a:lnSpc>
              <a:spcBef>
                <a:spcPts val="1630"/>
              </a:spcBef>
            </a:pPr>
            <a:r>
              <a:rPr sz="1150" spc="-4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Check</a:t>
            </a:r>
            <a:r>
              <a:rPr sz="1150" spc="-4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50" spc="-4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if</a:t>
            </a:r>
            <a:r>
              <a:rPr sz="1150" spc="-4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50" spc="-2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current</a:t>
            </a:r>
            <a:r>
              <a:rPr sz="1150" spc="-4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50" spc="-2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state </a:t>
            </a:r>
            <a:r>
              <a:rPr sz="115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match</a:t>
            </a:r>
            <a:r>
              <a:rPr sz="1150" spc="-7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50" spc="-2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goal</a:t>
            </a:r>
            <a:r>
              <a:rPr sz="1150" spc="-6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50" spc="-2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state</a:t>
            </a:r>
            <a:endParaRPr sz="1150">
              <a:latin typeface="Lucida Sans Unicode" panose="020B0602030504020204"/>
              <a:cs typeface="Lucida Sans Unicode" panose="020B0602030504020204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51112" rIns="0" bIns="0" rtlCol="0">
            <a:spAutoFit/>
          </a:bodyPr>
          <a:lstStyle/>
          <a:p>
            <a:pPr marL="2009140">
              <a:lnSpc>
                <a:spcPct val="100000"/>
              </a:lnSpc>
              <a:spcBef>
                <a:spcPts val="115"/>
              </a:spcBef>
            </a:pPr>
            <a:r>
              <a:rPr spc="-130" dirty="0">
                <a:latin typeface="Trebuchet MS" panose="020B0603020202020204"/>
                <a:cs typeface="Trebuchet MS" panose="020B0603020202020204"/>
              </a:rPr>
              <a:t>Problem</a:t>
            </a:r>
            <a:r>
              <a:rPr spc="-225" dirty="0">
                <a:latin typeface="Trebuchet MS" panose="020B0603020202020204"/>
                <a:cs typeface="Trebuchet MS" panose="020B0603020202020204"/>
              </a:rPr>
              <a:t> </a:t>
            </a:r>
            <a:r>
              <a:rPr spc="-90" dirty="0">
                <a:latin typeface="Trebuchet MS" panose="020B0603020202020204"/>
                <a:cs typeface="Trebuchet MS" panose="020B0603020202020204"/>
              </a:rPr>
              <a:t>Represen</a:t>
            </a:r>
            <a:r>
              <a:rPr sz="2550" spc="-90" dirty="0">
                <a:latin typeface="Tahoma" panose="020B0604030504040204"/>
                <a:cs typeface="Tahoma" panose="020B0604030504040204"/>
              </a:rPr>
              <a:t>t</a:t>
            </a:r>
            <a:r>
              <a:rPr spc="-90" dirty="0">
                <a:latin typeface="Trebuchet MS" panose="020B0603020202020204"/>
                <a:cs typeface="Trebuchet MS" panose="020B0603020202020204"/>
              </a:rPr>
              <a:t>a</a:t>
            </a:r>
            <a:r>
              <a:rPr sz="2550" spc="-90" dirty="0">
                <a:latin typeface="Tahoma" panose="020B0604030504040204"/>
                <a:cs typeface="Tahoma" panose="020B0604030504040204"/>
              </a:rPr>
              <a:t>t</a:t>
            </a:r>
            <a:r>
              <a:rPr spc="-90" dirty="0">
                <a:latin typeface="Trebuchet MS" panose="020B0603020202020204"/>
                <a:cs typeface="Trebuchet MS" panose="020B0603020202020204"/>
              </a:rPr>
              <a:t>ion</a:t>
            </a:r>
            <a:endParaRPr sz="2550">
              <a:latin typeface="Trebuchet MS" panose="020B0603020202020204"/>
              <a:cs typeface="Trebuchet MS" panose="020B0603020202020204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963721" y="1603187"/>
            <a:ext cx="824865" cy="88265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6195" algn="ctr">
              <a:lnSpc>
                <a:spcPct val="100000"/>
              </a:lnSpc>
              <a:spcBef>
                <a:spcPts val="130"/>
              </a:spcBef>
            </a:pPr>
            <a:r>
              <a:rPr sz="1500" spc="-10" dirty="0">
                <a:latin typeface="Arial Black" panose="020B0A04020102020204"/>
                <a:cs typeface="Arial Black" panose="020B0A04020102020204"/>
              </a:rPr>
              <a:t>Action</a:t>
            </a:r>
            <a:endParaRPr sz="1500">
              <a:latin typeface="Arial Black" panose="020B0A04020102020204"/>
              <a:cs typeface="Arial Black" panose="020B0A04020102020204"/>
            </a:endParaRPr>
          </a:p>
          <a:p>
            <a:pPr marL="12700" marR="5080" algn="ctr">
              <a:lnSpc>
                <a:spcPct val="119000"/>
              </a:lnSpc>
              <a:spcBef>
                <a:spcPts val="1630"/>
              </a:spcBef>
            </a:pPr>
            <a:r>
              <a:rPr sz="1150" spc="-3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Direction</a:t>
            </a:r>
            <a:r>
              <a:rPr sz="1150" spc="-1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50" spc="-2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of </a:t>
            </a:r>
            <a:r>
              <a:rPr sz="115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moves</a:t>
            </a:r>
            <a:endParaRPr sz="1150">
              <a:latin typeface="Lucida Sans Unicode" panose="020B0602030504020204"/>
              <a:cs typeface="Lucida Sans Unicode" panose="020B0602030504020204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92846" y="1603187"/>
            <a:ext cx="1236345" cy="88265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30"/>
              </a:spcBef>
            </a:pPr>
            <a:r>
              <a:rPr sz="1500" spc="-35" dirty="0">
                <a:latin typeface="Arial Black" panose="020B0A04020102020204"/>
                <a:cs typeface="Arial Black" panose="020B0A04020102020204"/>
              </a:rPr>
              <a:t>Initial</a:t>
            </a:r>
            <a:r>
              <a:rPr sz="1500" spc="-70" dirty="0">
                <a:latin typeface="Arial Black" panose="020B0A04020102020204"/>
                <a:cs typeface="Arial Black" panose="020B0A04020102020204"/>
              </a:rPr>
              <a:t> </a:t>
            </a:r>
            <a:r>
              <a:rPr sz="1500" spc="-10" dirty="0">
                <a:latin typeface="Arial Black" panose="020B0A04020102020204"/>
                <a:cs typeface="Arial Black" panose="020B0A04020102020204"/>
              </a:rPr>
              <a:t>State</a:t>
            </a:r>
            <a:endParaRPr sz="1500">
              <a:latin typeface="Arial Black" panose="020B0A04020102020204"/>
              <a:cs typeface="Arial Black" panose="020B0A04020102020204"/>
            </a:endParaRPr>
          </a:p>
          <a:p>
            <a:pPr marL="12065" marR="5080" algn="ctr">
              <a:lnSpc>
                <a:spcPct val="119000"/>
              </a:lnSpc>
              <a:spcBef>
                <a:spcPts val="1630"/>
              </a:spcBef>
            </a:pPr>
            <a:r>
              <a:rPr sz="1150" dirty="0">
                <a:latin typeface="Lucida Sans Unicode" panose="020B0602030504020204"/>
                <a:cs typeface="Lucida Sans Unicode" panose="020B0602030504020204"/>
              </a:rPr>
              <a:t>Start</a:t>
            </a:r>
            <a:r>
              <a:rPr sz="1150" spc="-70" dirty="0"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50" spc="-25" dirty="0">
                <a:latin typeface="Lucida Sans Unicode" panose="020B0602030504020204"/>
                <a:cs typeface="Lucida Sans Unicode" panose="020B0602030504020204"/>
              </a:rPr>
              <a:t>location</a:t>
            </a:r>
            <a:r>
              <a:rPr sz="1150" spc="-65" dirty="0"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50" spc="-30" dirty="0">
                <a:latin typeface="Lucida Sans Unicode" panose="020B0602030504020204"/>
                <a:cs typeface="Lucida Sans Unicode" panose="020B0602030504020204"/>
              </a:rPr>
              <a:t>of</a:t>
            </a:r>
            <a:r>
              <a:rPr sz="1150" spc="-65" dirty="0"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50" spc="-50" dirty="0">
                <a:latin typeface="Lucida Sans Unicode" panose="020B0602030504020204"/>
                <a:cs typeface="Lucida Sans Unicode" panose="020B0602030504020204"/>
              </a:rPr>
              <a:t>8 </a:t>
            </a:r>
            <a:r>
              <a:rPr sz="1150" spc="-10" dirty="0">
                <a:latin typeface="Lucida Sans Unicode" panose="020B0602030504020204"/>
                <a:cs typeface="Lucida Sans Unicode" panose="020B0602030504020204"/>
              </a:rPr>
              <a:t>tiles</a:t>
            </a:r>
            <a:endParaRPr sz="1150">
              <a:latin typeface="Lucida Sans Unicode" panose="020B0602030504020204"/>
              <a:cs typeface="Lucida Sans Unicode" panose="020B0602030504020204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118530" y="1603187"/>
            <a:ext cx="1402715" cy="125095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30"/>
              </a:spcBef>
            </a:pPr>
            <a:r>
              <a:rPr sz="1500" spc="-85" dirty="0">
                <a:latin typeface="Arial Black" panose="020B0A04020102020204"/>
                <a:cs typeface="Arial Black" panose="020B0A04020102020204"/>
              </a:rPr>
              <a:t>Goal</a:t>
            </a:r>
            <a:r>
              <a:rPr sz="1500" spc="-90" dirty="0">
                <a:latin typeface="Arial Black" panose="020B0A04020102020204"/>
                <a:cs typeface="Arial Black" panose="020B0A04020102020204"/>
              </a:rPr>
              <a:t> </a:t>
            </a:r>
            <a:r>
              <a:rPr sz="1500" spc="-10" dirty="0">
                <a:latin typeface="Arial Black" panose="020B0A04020102020204"/>
                <a:cs typeface="Arial Black" panose="020B0A04020102020204"/>
              </a:rPr>
              <a:t>state</a:t>
            </a:r>
            <a:endParaRPr sz="1500">
              <a:latin typeface="Arial Black" panose="020B0A04020102020204"/>
              <a:cs typeface="Arial Black" panose="020B0A04020102020204"/>
            </a:endParaRPr>
          </a:p>
          <a:p>
            <a:pPr marL="12700" marR="5080" indent="-635" algn="ctr">
              <a:lnSpc>
                <a:spcPct val="119000"/>
              </a:lnSpc>
              <a:spcBef>
                <a:spcPts val="1240"/>
              </a:spcBef>
            </a:pPr>
            <a:r>
              <a:rPr sz="115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arrange</a:t>
            </a:r>
            <a:r>
              <a:rPr sz="1150" spc="-5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5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the</a:t>
            </a:r>
            <a:r>
              <a:rPr sz="1150" spc="-5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50" spc="-3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tiles</a:t>
            </a:r>
            <a:r>
              <a:rPr sz="1150" spc="-5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50" spc="-2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in </a:t>
            </a:r>
            <a:r>
              <a:rPr sz="115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a</a:t>
            </a:r>
            <a:r>
              <a:rPr sz="1150" spc="-5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50" spc="-3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specific</a:t>
            </a:r>
            <a:r>
              <a:rPr sz="1150" spc="-4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50" spc="-2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order</a:t>
            </a:r>
            <a:r>
              <a:rPr sz="1150" spc="-4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50" spc="-2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with </a:t>
            </a:r>
            <a:r>
              <a:rPr sz="115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the</a:t>
            </a:r>
            <a:r>
              <a:rPr sz="1150" spc="-6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50" spc="-3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blank</a:t>
            </a:r>
            <a:r>
              <a:rPr sz="1150" spc="-6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50" spc="-2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space</a:t>
            </a:r>
            <a:r>
              <a:rPr sz="1150" spc="-6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50" spc="-2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at </a:t>
            </a:r>
            <a:r>
              <a:rPr sz="115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the</a:t>
            </a:r>
            <a:r>
              <a:rPr sz="1150" spc="-6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50" spc="-2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bottom</a:t>
            </a:r>
            <a:r>
              <a:rPr sz="1150" spc="-6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5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right.</a:t>
            </a:r>
            <a:endParaRPr sz="1150">
              <a:latin typeface="Lucida Sans Unicode" panose="020B0602030504020204"/>
              <a:cs typeface="Lucida Sans Unicode" panose="020B0602030504020204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645570" y="885692"/>
            <a:ext cx="4756150" cy="21526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b="1" spc="-60" dirty="0">
                <a:solidFill>
                  <a:srgbClr val="1A1A1A"/>
                </a:solidFill>
                <a:latin typeface="Trebuchet MS" panose="020B0603020202020204"/>
                <a:cs typeface="Trebuchet MS" panose="020B0603020202020204"/>
              </a:rPr>
              <a:t>t</a:t>
            </a:r>
            <a:r>
              <a:rPr sz="1250" b="1" spc="-60" dirty="0">
                <a:solidFill>
                  <a:srgbClr val="1A1A1A"/>
                </a:solidFill>
                <a:latin typeface="Arial" panose="020B0604020202020204"/>
                <a:cs typeface="Arial" panose="020B0604020202020204"/>
              </a:rPr>
              <a:t>he</a:t>
            </a:r>
            <a:r>
              <a:rPr sz="1250" b="1" spc="-65" dirty="0">
                <a:solidFill>
                  <a:srgbClr val="1A1A1A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spc="-20" dirty="0">
                <a:solidFill>
                  <a:srgbClr val="1A1A1A"/>
                </a:solidFill>
                <a:latin typeface="Trebuchet MS" panose="020B0603020202020204"/>
                <a:cs typeface="Trebuchet MS" panose="020B0603020202020204"/>
              </a:rPr>
              <a:t>8</a:t>
            </a:r>
            <a:r>
              <a:rPr sz="1200" b="1" spc="-80" dirty="0">
                <a:solidFill>
                  <a:srgbClr val="1A1A1A"/>
                </a:solidFill>
                <a:latin typeface="Trebuchet MS" panose="020B0603020202020204"/>
                <a:cs typeface="Trebuchet MS" panose="020B0603020202020204"/>
              </a:rPr>
              <a:t> </a:t>
            </a:r>
            <a:r>
              <a:rPr sz="1250" b="1" spc="-80" dirty="0">
                <a:solidFill>
                  <a:srgbClr val="1A1A1A"/>
                </a:solidFill>
                <a:latin typeface="Arial" panose="020B0604020202020204"/>
                <a:cs typeface="Arial" panose="020B0604020202020204"/>
              </a:rPr>
              <a:t>P</a:t>
            </a:r>
            <a:r>
              <a:rPr sz="1200" b="1" spc="-80" dirty="0">
                <a:solidFill>
                  <a:srgbClr val="1A1A1A"/>
                </a:solidFill>
                <a:latin typeface="Trebuchet MS" panose="020B0603020202020204"/>
                <a:cs typeface="Trebuchet MS" panose="020B0603020202020204"/>
              </a:rPr>
              <a:t>uzz</a:t>
            </a:r>
            <a:r>
              <a:rPr sz="1250" b="1" spc="-80" dirty="0">
                <a:solidFill>
                  <a:srgbClr val="1A1A1A"/>
                </a:solidFill>
                <a:latin typeface="Arial" panose="020B0604020202020204"/>
                <a:cs typeface="Arial" panose="020B0604020202020204"/>
              </a:rPr>
              <a:t>le</a:t>
            </a:r>
            <a:r>
              <a:rPr sz="1250" b="1" spc="-65" dirty="0">
                <a:solidFill>
                  <a:srgbClr val="1A1A1A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50" b="1" spc="-90" dirty="0">
                <a:solidFill>
                  <a:srgbClr val="1A1A1A"/>
                </a:solidFill>
                <a:latin typeface="Arial" panose="020B0604020202020204"/>
                <a:cs typeface="Arial" panose="020B0604020202020204"/>
              </a:rPr>
              <a:t>Problem</a:t>
            </a:r>
            <a:r>
              <a:rPr sz="1250" b="1" spc="-65" dirty="0">
                <a:solidFill>
                  <a:srgbClr val="1A1A1A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50" b="1" spc="-120" dirty="0">
                <a:solidFill>
                  <a:srgbClr val="1A1A1A"/>
                </a:solidFill>
                <a:latin typeface="Arial" panose="020B0604020202020204"/>
                <a:cs typeface="Arial" panose="020B0604020202020204"/>
              </a:rPr>
              <a:t>is</a:t>
            </a:r>
            <a:r>
              <a:rPr sz="1250" b="1" spc="-95" dirty="0">
                <a:solidFill>
                  <a:srgbClr val="1A1A1A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spc="-55" dirty="0">
                <a:solidFill>
                  <a:srgbClr val="1A1A1A"/>
                </a:solidFill>
                <a:latin typeface="Trebuchet MS" panose="020B0603020202020204"/>
                <a:cs typeface="Trebuchet MS" panose="020B0603020202020204"/>
              </a:rPr>
              <a:t>ty</a:t>
            </a:r>
            <a:r>
              <a:rPr sz="1250" b="1" spc="-55" dirty="0">
                <a:solidFill>
                  <a:srgbClr val="1A1A1A"/>
                </a:solidFill>
                <a:latin typeface="Arial" panose="020B0604020202020204"/>
                <a:cs typeface="Arial" panose="020B0604020202020204"/>
              </a:rPr>
              <a:t>picall</a:t>
            </a:r>
            <a:r>
              <a:rPr sz="1200" b="1" spc="-55" dirty="0">
                <a:solidFill>
                  <a:srgbClr val="1A1A1A"/>
                </a:solidFill>
                <a:latin typeface="Trebuchet MS" panose="020B0603020202020204"/>
                <a:cs typeface="Trebuchet MS" panose="020B0603020202020204"/>
              </a:rPr>
              <a:t>y</a:t>
            </a:r>
            <a:r>
              <a:rPr sz="1200" b="1" spc="-105" dirty="0">
                <a:solidFill>
                  <a:srgbClr val="1A1A1A"/>
                </a:solidFill>
                <a:latin typeface="Trebuchet MS" panose="020B0603020202020204"/>
                <a:cs typeface="Trebuchet MS" panose="020B0603020202020204"/>
              </a:rPr>
              <a:t> </a:t>
            </a:r>
            <a:r>
              <a:rPr sz="1250" b="1" spc="-80" dirty="0">
                <a:solidFill>
                  <a:srgbClr val="1A1A1A"/>
                </a:solidFill>
                <a:latin typeface="Arial" panose="020B0604020202020204"/>
                <a:cs typeface="Arial" panose="020B0604020202020204"/>
              </a:rPr>
              <a:t>represen</a:t>
            </a:r>
            <a:r>
              <a:rPr sz="1200" b="1" spc="-80" dirty="0">
                <a:solidFill>
                  <a:srgbClr val="1A1A1A"/>
                </a:solidFill>
                <a:latin typeface="Trebuchet MS" panose="020B0603020202020204"/>
                <a:cs typeface="Trebuchet MS" panose="020B0603020202020204"/>
              </a:rPr>
              <a:t>t</a:t>
            </a:r>
            <a:r>
              <a:rPr sz="1250" b="1" spc="-80" dirty="0">
                <a:solidFill>
                  <a:srgbClr val="1A1A1A"/>
                </a:solidFill>
                <a:latin typeface="Arial" panose="020B0604020202020204"/>
                <a:cs typeface="Arial" panose="020B0604020202020204"/>
              </a:rPr>
              <a:t>ed</a:t>
            </a:r>
            <a:r>
              <a:rPr sz="1250" b="1" spc="-65" dirty="0">
                <a:solidFill>
                  <a:srgbClr val="1A1A1A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50" b="1" spc="-90" dirty="0">
                <a:solidFill>
                  <a:srgbClr val="1A1A1A"/>
                </a:solidFill>
                <a:latin typeface="Arial" panose="020B0604020202020204"/>
                <a:cs typeface="Arial" panose="020B0604020202020204"/>
              </a:rPr>
              <a:t>as</a:t>
            </a:r>
            <a:r>
              <a:rPr sz="1250" b="1" spc="-65" dirty="0">
                <a:solidFill>
                  <a:srgbClr val="1A1A1A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50" b="1" dirty="0">
                <a:solidFill>
                  <a:srgbClr val="1A1A1A"/>
                </a:solidFill>
                <a:latin typeface="Arial" panose="020B0604020202020204"/>
                <a:cs typeface="Arial" panose="020B0604020202020204"/>
              </a:rPr>
              <a:t>a</a:t>
            </a:r>
            <a:r>
              <a:rPr sz="1250" b="1" spc="-65" dirty="0">
                <a:solidFill>
                  <a:srgbClr val="1A1A1A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50" b="1" spc="-60" dirty="0">
                <a:solidFill>
                  <a:srgbClr val="1A1A1A"/>
                </a:solidFill>
                <a:latin typeface="Arial" panose="020B0604020202020204"/>
                <a:cs typeface="Arial" panose="020B0604020202020204"/>
              </a:rPr>
              <a:t>s</a:t>
            </a:r>
            <a:r>
              <a:rPr sz="1200" b="1" spc="-60" dirty="0">
                <a:solidFill>
                  <a:srgbClr val="1A1A1A"/>
                </a:solidFill>
                <a:latin typeface="Trebuchet MS" panose="020B0603020202020204"/>
                <a:cs typeface="Trebuchet MS" panose="020B0603020202020204"/>
              </a:rPr>
              <a:t>t</a:t>
            </a:r>
            <a:r>
              <a:rPr sz="1250" b="1" spc="-60" dirty="0">
                <a:solidFill>
                  <a:srgbClr val="1A1A1A"/>
                </a:solidFill>
                <a:latin typeface="Arial" panose="020B0604020202020204"/>
                <a:cs typeface="Arial" panose="020B0604020202020204"/>
              </a:rPr>
              <a:t>a</a:t>
            </a:r>
            <a:r>
              <a:rPr sz="1200" b="1" spc="-60" dirty="0">
                <a:solidFill>
                  <a:srgbClr val="1A1A1A"/>
                </a:solidFill>
                <a:latin typeface="Trebuchet MS" panose="020B0603020202020204"/>
                <a:cs typeface="Trebuchet MS" panose="020B0603020202020204"/>
              </a:rPr>
              <a:t>t</a:t>
            </a:r>
            <a:r>
              <a:rPr sz="1250" b="1" spc="-60" dirty="0">
                <a:solidFill>
                  <a:srgbClr val="1A1A1A"/>
                </a:solidFill>
                <a:latin typeface="Arial" panose="020B0604020202020204"/>
                <a:cs typeface="Arial" panose="020B0604020202020204"/>
              </a:rPr>
              <a:t>e</a:t>
            </a:r>
            <a:r>
              <a:rPr sz="1250" b="1" spc="-65" dirty="0">
                <a:solidFill>
                  <a:srgbClr val="1A1A1A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50" b="1" spc="-75" dirty="0">
                <a:solidFill>
                  <a:srgbClr val="1A1A1A"/>
                </a:solidFill>
                <a:latin typeface="Arial" panose="020B0604020202020204"/>
                <a:cs typeface="Arial" panose="020B0604020202020204"/>
              </a:rPr>
              <a:t>space</a:t>
            </a:r>
            <a:r>
              <a:rPr sz="1250" b="1" spc="-60" dirty="0">
                <a:solidFill>
                  <a:srgbClr val="1A1A1A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50" b="1" spc="-70" dirty="0">
                <a:solidFill>
                  <a:srgbClr val="1A1A1A"/>
                </a:solidFill>
                <a:latin typeface="Arial" panose="020B0604020202020204"/>
                <a:cs typeface="Arial" panose="020B0604020202020204"/>
              </a:rPr>
              <a:t>problem</a:t>
            </a:r>
            <a:endParaRPr sz="1250">
              <a:latin typeface="Arial" panose="020B0604020202020204"/>
              <a:cs typeface="Arial" panose="020B0604020202020204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262935" y="1603187"/>
            <a:ext cx="1531620" cy="1717675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30"/>
              </a:spcBef>
            </a:pPr>
            <a:r>
              <a:rPr sz="1500" spc="-20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Cost</a:t>
            </a:r>
            <a:endParaRPr sz="1500">
              <a:latin typeface="Arial Black" panose="020B0A04020102020204"/>
              <a:cs typeface="Arial Black" panose="020B0A04020102020204"/>
            </a:endParaRPr>
          </a:p>
          <a:p>
            <a:pPr marL="12700" marR="5080" indent="-635" algn="ctr">
              <a:lnSpc>
                <a:spcPct val="119000"/>
              </a:lnSpc>
              <a:spcBef>
                <a:spcPts val="1630"/>
              </a:spcBef>
            </a:pPr>
            <a:r>
              <a:rPr sz="115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Each</a:t>
            </a:r>
            <a:r>
              <a:rPr sz="1150" spc="-6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50" spc="-2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move</a:t>
            </a:r>
            <a:r>
              <a:rPr sz="1150" spc="-6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5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has</a:t>
            </a:r>
            <a:r>
              <a:rPr sz="1150" spc="-6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50" spc="-5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a </a:t>
            </a:r>
            <a:r>
              <a:rPr sz="1150" spc="-2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uniform</a:t>
            </a:r>
            <a:r>
              <a:rPr sz="1150" spc="-6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50" spc="-3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cost,</a:t>
            </a:r>
            <a:r>
              <a:rPr sz="1150" spc="-6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50" spc="-3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typically </a:t>
            </a:r>
            <a:r>
              <a:rPr sz="1150" spc="-8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1</a:t>
            </a:r>
            <a:r>
              <a:rPr sz="1150" spc="-6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5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per</a:t>
            </a:r>
            <a:r>
              <a:rPr sz="1150" spc="-6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50" spc="-3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move,</a:t>
            </a:r>
            <a:r>
              <a:rPr sz="1150" spc="-6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5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making </a:t>
            </a:r>
            <a:r>
              <a:rPr sz="1150" spc="-3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this</a:t>
            </a:r>
            <a:r>
              <a:rPr sz="1150" spc="-5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5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an</a:t>
            </a:r>
            <a:r>
              <a:rPr sz="1150" spc="-5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50" spc="-2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instance</a:t>
            </a:r>
            <a:r>
              <a:rPr sz="1150" spc="-5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50" spc="-3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of</a:t>
            </a:r>
            <a:r>
              <a:rPr sz="1150" spc="-5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a </a:t>
            </a:r>
            <a:r>
              <a:rPr sz="1150" spc="-2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uniform</a:t>
            </a:r>
            <a:r>
              <a:rPr sz="1150" spc="-6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50" spc="-3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cost</a:t>
            </a:r>
            <a:r>
              <a:rPr sz="1150" spc="-5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5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search problem.</a:t>
            </a:r>
            <a:endParaRPr sz="1150">
              <a:latin typeface="Lucida Sans Unicode" panose="020B0602030504020204"/>
              <a:cs typeface="Lucida Sans Unicode" panose="020B060203050402020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spc="-175" dirty="0"/>
              <a:t>Sol</a:t>
            </a:r>
            <a:r>
              <a:rPr sz="2550" spc="-175" dirty="0">
                <a:latin typeface="Trebuchet MS" panose="020B0603020202020204"/>
                <a:cs typeface="Trebuchet MS" panose="020B0603020202020204"/>
              </a:rPr>
              <a:t>v</a:t>
            </a:r>
            <a:r>
              <a:rPr spc="-175" dirty="0"/>
              <a:t>e</a:t>
            </a:r>
            <a:r>
              <a:rPr spc="-190" dirty="0"/>
              <a:t> </a:t>
            </a:r>
            <a:r>
              <a:rPr spc="-175" dirty="0"/>
              <a:t>Problem</a:t>
            </a:r>
            <a:r>
              <a:rPr spc="-235" dirty="0"/>
              <a:t> </a:t>
            </a:r>
            <a:r>
              <a:rPr sz="2550" spc="-90" dirty="0">
                <a:latin typeface="Trebuchet MS" panose="020B0603020202020204"/>
                <a:cs typeface="Trebuchet MS" panose="020B0603020202020204"/>
              </a:rPr>
              <a:t>w</a:t>
            </a:r>
            <a:r>
              <a:rPr spc="-90" dirty="0"/>
              <a:t>i</a:t>
            </a:r>
            <a:r>
              <a:rPr sz="2550" spc="-90" dirty="0">
                <a:latin typeface="Trebuchet MS" panose="020B0603020202020204"/>
                <a:cs typeface="Trebuchet MS" panose="020B0603020202020204"/>
              </a:rPr>
              <a:t>t</a:t>
            </a:r>
            <a:r>
              <a:rPr spc="-90" dirty="0"/>
              <a:t>h</a:t>
            </a:r>
            <a:r>
              <a:rPr spc="-185" dirty="0"/>
              <a:t> </a:t>
            </a:r>
            <a:r>
              <a:rPr spc="-355" dirty="0"/>
              <a:t>BFS</a:t>
            </a:r>
            <a:endParaRPr sz="2550">
              <a:latin typeface="Trebuchet MS" panose="020B0603020202020204"/>
              <a:cs typeface="Trebuchet MS" panose="020B0603020202020204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4194987" y="-4056"/>
            <a:ext cx="3829685" cy="4516120"/>
            <a:chOff x="4194987" y="-4056"/>
            <a:chExt cx="3829685" cy="4516120"/>
          </a:xfrm>
        </p:grpSpPr>
        <p:pic>
          <p:nvPicPr>
            <p:cNvPr id="4" name="object 4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4199044" y="0"/>
              <a:ext cx="3821009" cy="4507992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4199044" y="0"/>
              <a:ext cx="3821429" cy="4508500"/>
            </a:xfrm>
            <a:custGeom>
              <a:avLst/>
              <a:gdLst/>
              <a:ahLst/>
              <a:cxnLst/>
              <a:rect l="l" t="t" r="r" b="b"/>
              <a:pathLst>
                <a:path w="3821429" h="4508500">
                  <a:moveTo>
                    <a:pt x="0" y="4507991"/>
                  </a:moveTo>
                  <a:lnTo>
                    <a:pt x="0" y="0"/>
                  </a:lnTo>
                  <a:lnTo>
                    <a:pt x="3821005" y="0"/>
                  </a:lnTo>
                  <a:lnTo>
                    <a:pt x="3821009" y="4507991"/>
                  </a:lnTo>
                </a:path>
              </a:pathLst>
            </a:custGeom>
            <a:ln w="8112">
              <a:solidFill>
                <a:srgbClr val="D9D9D9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" name="object 6"/>
          <p:cNvSpPr txBox="1"/>
          <p:nvPr/>
        </p:nvSpPr>
        <p:spPr>
          <a:xfrm>
            <a:off x="469708" y="1060675"/>
            <a:ext cx="3437890" cy="2312670"/>
          </a:xfrm>
          <a:prstGeom prst="rect">
            <a:avLst/>
          </a:prstGeom>
        </p:spPr>
        <p:txBody>
          <a:bodyPr vert="horz" wrap="square" lIns="0" tIns="533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20"/>
              </a:spcBef>
            </a:pPr>
            <a:r>
              <a:rPr sz="1400" spc="-200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BFS</a:t>
            </a:r>
            <a:r>
              <a:rPr sz="1400" spc="-90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1400" spc="-4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explores</a:t>
            </a:r>
            <a:r>
              <a:rPr sz="1400" spc="-6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6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puzzle</a:t>
            </a:r>
            <a:r>
              <a:rPr sz="1400" spc="-6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2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states</a:t>
            </a:r>
            <a:r>
              <a:rPr sz="1400" spc="-6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85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level</a:t>
            </a:r>
            <a:r>
              <a:rPr sz="1400" spc="-90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1400" spc="-75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by</a:t>
            </a:r>
            <a:r>
              <a:rPr sz="1400" spc="-90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1400" spc="-10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level</a:t>
            </a:r>
            <a:endParaRPr sz="1400">
              <a:latin typeface="Arial Black" panose="020B0A04020102020204"/>
              <a:cs typeface="Arial Black" panose="020B0A04020102020204"/>
            </a:endParaRPr>
          </a:p>
          <a:p>
            <a:pPr marL="12700" marR="709295">
              <a:lnSpc>
                <a:spcPct val="119000"/>
              </a:lnSpc>
            </a:pPr>
            <a:r>
              <a:rPr sz="1400" spc="-2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starting</a:t>
            </a:r>
            <a:r>
              <a:rPr sz="1400" spc="-6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2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from</a:t>
            </a:r>
            <a:r>
              <a:rPr sz="1400" spc="-6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the</a:t>
            </a:r>
            <a:r>
              <a:rPr sz="1400" spc="-6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3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initial</a:t>
            </a:r>
            <a:r>
              <a:rPr sz="1400" spc="-6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state. Each</a:t>
            </a:r>
            <a:r>
              <a:rPr sz="1400" spc="-8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state</a:t>
            </a:r>
            <a:r>
              <a:rPr sz="1400" spc="-8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2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represents</a:t>
            </a:r>
            <a:r>
              <a:rPr sz="1400" spc="-8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a</a:t>
            </a:r>
            <a:r>
              <a:rPr sz="1400" spc="-7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different arrangement</a:t>
            </a:r>
            <a:r>
              <a:rPr sz="1400" spc="-7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3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of</a:t>
            </a:r>
            <a:r>
              <a:rPr sz="1400" spc="-7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the</a:t>
            </a:r>
            <a:r>
              <a:rPr sz="1400" spc="-7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tiles.</a:t>
            </a:r>
            <a:endParaRPr sz="1400">
              <a:latin typeface="Lucida Sans Unicode" panose="020B0602030504020204"/>
              <a:cs typeface="Lucida Sans Unicode" panose="020B0602030504020204"/>
            </a:endParaRPr>
          </a:p>
          <a:p>
            <a:pPr marL="12700" marR="414020">
              <a:lnSpc>
                <a:spcPct val="119000"/>
              </a:lnSpc>
            </a:pPr>
            <a:r>
              <a:rPr sz="14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Uses</a:t>
            </a:r>
            <a:r>
              <a:rPr sz="1400" spc="-7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a</a:t>
            </a:r>
            <a:r>
              <a:rPr sz="1400" spc="-7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75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queue</a:t>
            </a:r>
            <a:r>
              <a:rPr sz="1400" spc="-100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 (FIFO)</a:t>
            </a:r>
            <a:r>
              <a:rPr sz="1400" spc="-95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14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to</a:t>
            </a:r>
            <a:r>
              <a:rPr sz="1400" spc="-7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2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store</a:t>
            </a:r>
            <a:r>
              <a:rPr sz="1400" spc="-7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2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states. </a:t>
            </a:r>
            <a:r>
              <a:rPr sz="1400" spc="-90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Guarantees</a:t>
            </a:r>
            <a:r>
              <a:rPr sz="1400" spc="-70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1400" spc="-55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the</a:t>
            </a:r>
            <a:r>
              <a:rPr sz="1400" spc="-70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1400" spc="-75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shortest</a:t>
            </a:r>
            <a:r>
              <a:rPr sz="1400" spc="-65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1400" spc="-10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solution </a:t>
            </a:r>
            <a:r>
              <a:rPr sz="1400" spc="-2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(minimum</a:t>
            </a:r>
            <a:r>
              <a:rPr sz="1400" spc="-7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number</a:t>
            </a:r>
            <a:r>
              <a:rPr sz="1400" spc="-7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3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of</a:t>
            </a:r>
            <a:r>
              <a:rPr sz="1400" spc="-7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moves).</a:t>
            </a:r>
            <a:endParaRPr sz="1400">
              <a:latin typeface="Lucida Sans Unicode" panose="020B0602030504020204"/>
              <a:cs typeface="Lucida Sans Unicode" panose="020B0602030504020204"/>
            </a:endParaRPr>
          </a:p>
          <a:p>
            <a:pPr marL="12700" marR="5080">
              <a:lnSpc>
                <a:spcPct val="119000"/>
              </a:lnSpc>
            </a:pPr>
            <a:r>
              <a:rPr sz="1400" spc="-85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Disadvantage:</a:t>
            </a:r>
            <a:r>
              <a:rPr sz="1400" spc="-55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1400" spc="-3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Consumes</a:t>
            </a:r>
            <a:r>
              <a:rPr sz="1400" spc="-3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large</a:t>
            </a:r>
            <a:r>
              <a:rPr sz="1400" spc="-3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memory </a:t>
            </a:r>
            <a:r>
              <a:rPr sz="1400" spc="-2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because</a:t>
            </a:r>
            <a:r>
              <a:rPr sz="1400" spc="-7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3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it</a:t>
            </a:r>
            <a:r>
              <a:rPr sz="1400" spc="-7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2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stores</a:t>
            </a:r>
            <a:r>
              <a:rPr sz="1400" spc="-7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many</a:t>
            </a:r>
            <a:r>
              <a:rPr sz="1400" spc="-7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6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puzzle</a:t>
            </a:r>
            <a:r>
              <a:rPr sz="1400" spc="-7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states.</a:t>
            </a:r>
            <a:endParaRPr sz="1400">
              <a:latin typeface="Lucida Sans Unicode" panose="020B0602030504020204"/>
              <a:cs typeface="Lucida Sans Unicode" panose="020B0602030504020204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297062" y="1228381"/>
            <a:ext cx="50800" cy="51435"/>
          </a:xfrm>
          <a:custGeom>
            <a:avLst/>
            <a:gdLst/>
            <a:ahLst/>
            <a:cxnLst/>
            <a:rect l="l" t="t" r="r" b="b"/>
            <a:pathLst>
              <a:path w="50800" h="51434">
                <a:moveTo>
                  <a:pt x="28756" y="50821"/>
                </a:moveTo>
                <a:lnTo>
                  <a:pt x="22023" y="50821"/>
                </a:lnTo>
                <a:lnTo>
                  <a:pt x="18784" y="50176"/>
                </a:lnTo>
                <a:lnTo>
                  <a:pt x="0" y="28780"/>
                </a:lnTo>
                <a:lnTo>
                  <a:pt x="0" y="22041"/>
                </a:lnTo>
                <a:lnTo>
                  <a:pt x="22023" y="0"/>
                </a:lnTo>
                <a:lnTo>
                  <a:pt x="28756" y="0"/>
                </a:lnTo>
                <a:lnTo>
                  <a:pt x="50779" y="25410"/>
                </a:lnTo>
                <a:lnTo>
                  <a:pt x="50779" y="28780"/>
                </a:lnTo>
                <a:lnTo>
                  <a:pt x="28756" y="50821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8" name="object 8"/>
          <p:cNvSpPr/>
          <p:nvPr/>
        </p:nvSpPr>
        <p:spPr>
          <a:xfrm>
            <a:off x="297062" y="1736599"/>
            <a:ext cx="50800" cy="51435"/>
          </a:xfrm>
          <a:custGeom>
            <a:avLst/>
            <a:gdLst/>
            <a:ahLst/>
            <a:cxnLst/>
            <a:rect l="l" t="t" r="r" b="b"/>
            <a:pathLst>
              <a:path w="50800" h="51435">
                <a:moveTo>
                  <a:pt x="28756" y="50821"/>
                </a:moveTo>
                <a:lnTo>
                  <a:pt x="22023" y="50821"/>
                </a:lnTo>
                <a:lnTo>
                  <a:pt x="18784" y="50176"/>
                </a:lnTo>
                <a:lnTo>
                  <a:pt x="0" y="28780"/>
                </a:lnTo>
                <a:lnTo>
                  <a:pt x="0" y="22041"/>
                </a:lnTo>
                <a:lnTo>
                  <a:pt x="22023" y="0"/>
                </a:lnTo>
                <a:lnTo>
                  <a:pt x="28756" y="0"/>
                </a:lnTo>
                <a:lnTo>
                  <a:pt x="50779" y="25410"/>
                </a:lnTo>
                <a:lnTo>
                  <a:pt x="50779" y="28780"/>
                </a:lnTo>
                <a:lnTo>
                  <a:pt x="28756" y="50821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9" name="object 9"/>
          <p:cNvSpPr/>
          <p:nvPr/>
        </p:nvSpPr>
        <p:spPr>
          <a:xfrm>
            <a:off x="297062" y="2244816"/>
            <a:ext cx="50800" cy="51435"/>
          </a:xfrm>
          <a:custGeom>
            <a:avLst/>
            <a:gdLst/>
            <a:ahLst/>
            <a:cxnLst/>
            <a:rect l="l" t="t" r="r" b="b"/>
            <a:pathLst>
              <a:path w="50800" h="51435">
                <a:moveTo>
                  <a:pt x="28756" y="50821"/>
                </a:moveTo>
                <a:lnTo>
                  <a:pt x="22023" y="50821"/>
                </a:lnTo>
                <a:lnTo>
                  <a:pt x="18784" y="50176"/>
                </a:lnTo>
                <a:lnTo>
                  <a:pt x="0" y="28780"/>
                </a:lnTo>
                <a:lnTo>
                  <a:pt x="0" y="22041"/>
                </a:lnTo>
                <a:lnTo>
                  <a:pt x="22023" y="0"/>
                </a:lnTo>
                <a:lnTo>
                  <a:pt x="28756" y="0"/>
                </a:lnTo>
                <a:lnTo>
                  <a:pt x="50779" y="25410"/>
                </a:lnTo>
                <a:lnTo>
                  <a:pt x="50779" y="28780"/>
                </a:lnTo>
                <a:lnTo>
                  <a:pt x="28756" y="50821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0" name="object 10"/>
          <p:cNvSpPr/>
          <p:nvPr/>
        </p:nvSpPr>
        <p:spPr>
          <a:xfrm>
            <a:off x="297062" y="2498924"/>
            <a:ext cx="50800" cy="51435"/>
          </a:xfrm>
          <a:custGeom>
            <a:avLst/>
            <a:gdLst/>
            <a:ahLst/>
            <a:cxnLst/>
            <a:rect l="l" t="t" r="r" b="b"/>
            <a:pathLst>
              <a:path w="50800" h="51435">
                <a:moveTo>
                  <a:pt x="28756" y="50821"/>
                </a:moveTo>
                <a:lnTo>
                  <a:pt x="22023" y="50821"/>
                </a:lnTo>
                <a:lnTo>
                  <a:pt x="18784" y="50176"/>
                </a:lnTo>
                <a:lnTo>
                  <a:pt x="0" y="28780"/>
                </a:lnTo>
                <a:lnTo>
                  <a:pt x="0" y="22041"/>
                </a:lnTo>
                <a:lnTo>
                  <a:pt x="22023" y="0"/>
                </a:lnTo>
                <a:lnTo>
                  <a:pt x="28756" y="0"/>
                </a:lnTo>
                <a:lnTo>
                  <a:pt x="50779" y="25410"/>
                </a:lnTo>
                <a:lnTo>
                  <a:pt x="50779" y="28780"/>
                </a:lnTo>
                <a:lnTo>
                  <a:pt x="28756" y="50821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1" name="object 11"/>
          <p:cNvSpPr/>
          <p:nvPr/>
        </p:nvSpPr>
        <p:spPr>
          <a:xfrm>
            <a:off x="297062" y="3007142"/>
            <a:ext cx="50800" cy="51435"/>
          </a:xfrm>
          <a:custGeom>
            <a:avLst/>
            <a:gdLst/>
            <a:ahLst/>
            <a:cxnLst/>
            <a:rect l="l" t="t" r="r" b="b"/>
            <a:pathLst>
              <a:path w="50800" h="51435">
                <a:moveTo>
                  <a:pt x="28756" y="50821"/>
                </a:moveTo>
                <a:lnTo>
                  <a:pt x="22023" y="50821"/>
                </a:lnTo>
                <a:lnTo>
                  <a:pt x="18784" y="50176"/>
                </a:lnTo>
                <a:lnTo>
                  <a:pt x="0" y="28780"/>
                </a:lnTo>
                <a:lnTo>
                  <a:pt x="0" y="22041"/>
                </a:lnTo>
                <a:lnTo>
                  <a:pt x="22023" y="0"/>
                </a:lnTo>
                <a:lnTo>
                  <a:pt x="28756" y="0"/>
                </a:lnTo>
                <a:lnTo>
                  <a:pt x="50779" y="25410"/>
                </a:lnTo>
                <a:lnTo>
                  <a:pt x="50779" y="28780"/>
                </a:lnTo>
                <a:lnTo>
                  <a:pt x="28756" y="50821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spc="-175" dirty="0"/>
              <a:t>Sol</a:t>
            </a:r>
            <a:r>
              <a:rPr sz="2550" spc="-175" dirty="0">
                <a:latin typeface="Trebuchet MS" panose="020B0603020202020204"/>
                <a:cs typeface="Trebuchet MS" panose="020B0603020202020204"/>
              </a:rPr>
              <a:t>v</a:t>
            </a:r>
            <a:r>
              <a:rPr spc="-175" dirty="0"/>
              <a:t>e</a:t>
            </a:r>
            <a:r>
              <a:rPr spc="-190" dirty="0"/>
              <a:t> </a:t>
            </a:r>
            <a:r>
              <a:rPr spc="-175" dirty="0"/>
              <a:t>Problem</a:t>
            </a:r>
            <a:r>
              <a:rPr spc="-235" dirty="0"/>
              <a:t> </a:t>
            </a:r>
            <a:r>
              <a:rPr sz="2550" spc="-90" dirty="0">
                <a:latin typeface="Trebuchet MS" panose="020B0603020202020204"/>
                <a:cs typeface="Trebuchet MS" panose="020B0603020202020204"/>
              </a:rPr>
              <a:t>w</a:t>
            </a:r>
            <a:r>
              <a:rPr spc="-90" dirty="0"/>
              <a:t>i</a:t>
            </a:r>
            <a:r>
              <a:rPr sz="2550" spc="-90" dirty="0">
                <a:latin typeface="Trebuchet MS" panose="020B0603020202020204"/>
                <a:cs typeface="Trebuchet MS" panose="020B0603020202020204"/>
              </a:rPr>
              <a:t>t</a:t>
            </a:r>
            <a:r>
              <a:rPr spc="-90" dirty="0"/>
              <a:t>h</a:t>
            </a:r>
            <a:r>
              <a:rPr spc="-185" dirty="0"/>
              <a:t> </a:t>
            </a:r>
            <a:r>
              <a:rPr spc="-325" dirty="0"/>
              <a:t>GBFS</a:t>
            </a:r>
            <a:endParaRPr sz="2550">
              <a:latin typeface="Trebuchet MS" panose="020B0603020202020204"/>
              <a:cs typeface="Trebuchet MS" panose="020B0603020202020204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4194987" y="-4056"/>
            <a:ext cx="3829685" cy="4516120"/>
            <a:chOff x="4194987" y="-4056"/>
            <a:chExt cx="3829685" cy="4516120"/>
          </a:xfrm>
        </p:grpSpPr>
        <p:pic>
          <p:nvPicPr>
            <p:cNvPr id="4" name="object 4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4199044" y="0"/>
              <a:ext cx="3821009" cy="4507992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4199044" y="0"/>
              <a:ext cx="3821429" cy="4508500"/>
            </a:xfrm>
            <a:custGeom>
              <a:avLst/>
              <a:gdLst/>
              <a:ahLst/>
              <a:cxnLst/>
              <a:rect l="l" t="t" r="r" b="b"/>
              <a:pathLst>
                <a:path w="3821429" h="4508500">
                  <a:moveTo>
                    <a:pt x="0" y="4507991"/>
                  </a:moveTo>
                  <a:lnTo>
                    <a:pt x="0" y="0"/>
                  </a:lnTo>
                  <a:lnTo>
                    <a:pt x="3821005" y="0"/>
                  </a:lnTo>
                  <a:lnTo>
                    <a:pt x="3821009" y="4507991"/>
                  </a:lnTo>
                </a:path>
              </a:pathLst>
            </a:custGeom>
            <a:ln w="8112">
              <a:solidFill>
                <a:srgbClr val="D9D9D9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" name="object 6"/>
          <p:cNvSpPr txBox="1"/>
          <p:nvPr/>
        </p:nvSpPr>
        <p:spPr>
          <a:xfrm>
            <a:off x="469708" y="969922"/>
            <a:ext cx="3484879" cy="28206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9000"/>
              </a:lnSpc>
              <a:spcBef>
                <a:spcPts val="100"/>
              </a:spcBef>
            </a:pPr>
            <a:r>
              <a:rPr sz="1400" spc="-190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GBFS</a:t>
            </a:r>
            <a:r>
              <a:rPr sz="1400" spc="-105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1400" spc="-3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selects</a:t>
            </a:r>
            <a:r>
              <a:rPr sz="1400" spc="-7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the</a:t>
            </a:r>
            <a:r>
              <a:rPr sz="1400" spc="-7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5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next</a:t>
            </a:r>
            <a:r>
              <a:rPr sz="1400" spc="-8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state</a:t>
            </a:r>
            <a:r>
              <a:rPr sz="1400" spc="-7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based</a:t>
            </a:r>
            <a:r>
              <a:rPr sz="1400" spc="-7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2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only</a:t>
            </a:r>
            <a:r>
              <a:rPr sz="1400" spc="-8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2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on </a:t>
            </a:r>
            <a:r>
              <a:rPr sz="14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the</a:t>
            </a:r>
            <a:r>
              <a:rPr sz="1400" spc="-6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3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heuristic</a:t>
            </a:r>
            <a:r>
              <a:rPr sz="1400" spc="-6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value</a:t>
            </a:r>
            <a:r>
              <a:rPr sz="1400" spc="-6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10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h(n)</a:t>
            </a:r>
            <a:r>
              <a:rPr sz="14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.</a:t>
            </a:r>
            <a:endParaRPr sz="1400">
              <a:latin typeface="Lucida Sans Unicode" panose="020B0602030504020204"/>
              <a:cs typeface="Lucida Sans Unicode" panose="020B0602030504020204"/>
            </a:endParaRPr>
          </a:p>
          <a:p>
            <a:pPr marL="12700">
              <a:lnSpc>
                <a:spcPct val="100000"/>
              </a:lnSpc>
              <a:spcBef>
                <a:spcPts val="320"/>
              </a:spcBef>
            </a:pPr>
            <a:r>
              <a:rPr sz="1400" spc="-3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Always</a:t>
            </a:r>
            <a:r>
              <a:rPr sz="1400" spc="-7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4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expands</a:t>
            </a:r>
            <a:r>
              <a:rPr sz="1400" spc="-7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the</a:t>
            </a:r>
            <a:r>
              <a:rPr sz="1400" spc="-7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state</a:t>
            </a:r>
            <a:r>
              <a:rPr sz="1400" spc="-7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that</a:t>
            </a:r>
            <a:r>
              <a:rPr sz="1400" spc="-7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appears</a:t>
            </a:r>
            <a:endParaRPr sz="1400">
              <a:latin typeface="Lucida Sans Unicode" panose="020B0602030504020204"/>
              <a:cs typeface="Lucida Sans Unicode" panose="020B0602030504020204"/>
            </a:endParaRPr>
          </a:p>
          <a:p>
            <a:pPr marL="12700">
              <a:lnSpc>
                <a:spcPct val="100000"/>
              </a:lnSpc>
              <a:spcBef>
                <a:spcPts val="320"/>
              </a:spcBef>
            </a:pPr>
            <a:r>
              <a:rPr sz="1400" spc="-120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closest</a:t>
            </a:r>
            <a:r>
              <a:rPr sz="1400" spc="-85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1400" spc="-50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to</a:t>
            </a:r>
            <a:r>
              <a:rPr sz="1400" spc="-80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1400" spc="-55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the</a:t>
            </a:r>
            <a:r>
              <a:rPr sz="1400" spc="-80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1400" spc="-10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goal</a:t>
            </a:r>
            <a:r>
              <a:rPr sz="14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.</a:t>
            </a:r>
            <a:endParaRPr sz="1400">
              <a:latin typeface="Lucida Sans Unicode" panose="020B0602030504020204"/>
              <a:cs typeface="Lucida Sans Unicode" panose="020B0602030504020204"/>
            </a:endParaRPr>
          </a:p>
          <a:p>
            <a:pPr marL="12700" marR="327025">
              <a:lnSpc>
                <a:spcPct val="119000"/>
              </a:lnSpc>
            </a:pPr>
            <a:r>
              <a:rPr sz="14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Uses</a:t>
            </a:r>
            <a:r>
              <a:rPr sz="1400" spc="-6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a</a:t>
            </a:r>
            <a:r>
              <a:rPr sz="1400" spc="-6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40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priority</a:t>
            </a:r>
            <a:r>
              <a:rPr sz="1400" spc="-90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1400" spc="-75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queue</a:t>
            </a:r>
            <a:r>
              <a:rPr sz="1400" spc="-85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1400" spc="-2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ordered</a:t>
            </a:r>
            <a:r>
              <a:rPr sz="1400" spc="-6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4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by</a:t>
            </a:r>
            <a:r>
              <a:rPr sz="1400" spc="-6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2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the </a:t>
            </a:r>
            <a:r>
              <a:rPr sz="14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heuristic.</a:t>
            </a:r>
            <a:endParaRPr sz="1400">
              <a:latin typeface="Lucida Sans Unicode" panose="020B0602030504020204"/>
              <a:cs typeface="Lucida Sans Unicode" panose="020B0602030504020204"/>
            </a:endParaRPr>
          </a:p>
          <a:p>
            <a:pPr marL="12700" marR="396240">
              <a:lnSpc>
                <a:spcPct val="119000"/>
              </a:lnSpc>
            </a:pPr>
            <a:r>
              <a:rPr sz="1400" spc="-80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Advantage:</a:t>
            </a:r>
            <a:r>
              <a:rPr sz="1400" spc="-85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14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Faster</a:t>
            </a:r>
            <a:r>
              <a:rPr sz="1400" spc="-6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than</a:t>
            </a:r>
            <a:r>
              <a:rPr sz="1400" spc="-5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BFS</a:t>
            </a:r>
            <a:r>
              <a:rPr sz="1400" spc="-6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3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in</a:t>
            </a:r>
            <a:r>
              <a:rPr sz="1400" spc="-5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2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many </a:t>
            </a:r>
            <a:r>
              <a:rPr sz="14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cases.</a:t>
            </a:r>
            <a:endParaRPr sz="1400">
              <a:latin typeface="Lucida Sans Unicode" panose="020B0602030504020204"/>
              <a:cs typeface="Lucida Sans Unicode" panose="020B0602030504020204"/>
            </a:endParaRPr>
          </a:p>
          <a:p>
            <a:pPr marL="12700" marR="65405">
              <a:lnSpc>
                <a:spcPct val="119000"/>
              </a:lnSpc>
            </a:pPr>
            <a:r>
              <a:rPr sz="1400" spc="-85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Disadvantage:</a:t>
            </a:r>
            <a:r>
              <a:rPr sz="1400" spc="-65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1400" spc="-2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Does</a:t>
            </a:r>
            <a:r>
              <a:rPr sz="1400" spc="-3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45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not</a:t>
            </a:r>
            <a:r>
              <a:rPr sz="1400" spc="-60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1400" spc="-75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guarantee</a:t>
            </a:r>
            <a:r>
              <a:rPr sz="1400" spc="-60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1400" spc="-25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the </a:t>
            </a:r>
            <a:r>
              <a:rPr sz="1400" spc="-75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shortest</a:t>
            </a:r>
            <a:r>
              <a:rPr sz="1400" spc="-100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1400" spc="-65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solution</a:t>
            </a:r>
            <a:r>
              <a:rPr sz="1400" spc="-95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140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and</a:t>
            </a:r>
            <a:r>
              <a:rPr sz="1400" spc="-7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may</a:t>
            </a:r>
            <a:r>
              <a:rPr sz="1400" spc="-7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get</a:t>
            </a:r>
            <a:r>
              <a:rPr sz="1400" spc="-7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4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stuck</a:t>
            </a:r>
            <a:r>
              <a:rPr sz="1400" spc="-7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2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in </a:t>
            </a:r>
            <a:r>
              <a:rPr sz="1400" spc="-3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local</a:t>
            </a:r>
            <a:r>
              <a:rPr sz="1400" spc="-6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minima.</a:t>
            </a:r>
            <a:endParaRPr sz="1400">
              <a:latin typeface="Lucida Sans Unicode" panose="020B0602030504020204"/>
              <a:cs typeface="Lucida Sans Unicode" panose="020B0602030504020204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297062" y="1137629"/>
            <a:ext cx="50800" cy="51435"/>
          </a:xfrm>
          <a:custGeom>
            <a:avLst/>
            <a:gdLst/>
            <a:ahLst/>
            <a:cxnLst/>
            <a:rect l="l" t="t" r="r" b="b"/>
            <a:pathLst>
              <a:path w="50800" h="51434">
                <a:moveTo>
                  <a:pt x="28756" y="50821"/>
                </a:moveTo>
                <a:lnTo>
                  <a:pt x="22023" y="50821"/>
                </a:lnTo>
                <a:lnTo>
                  <a:pt x="18784" y="50176"/>
                </a:lnTo>
                <a:lnTo>
                  <a:pt x="0" y="28780"/>
                </a:lnTo>
                <a:lnTo>
                  <a:pt x="0" y="22041"/>
                </a:lnTo>
                <a:lnTo>
                  <a:pt x="22023" y="0"/>
                </a:lnTo>
                <a:lnTo>
                  <a:pt x="28756" y="0"/>
                </a:lnTo>
                <a:lnTo>
                  <a:pt x="50779" y="25410"/>
                </a:lnTo>
                <a:lnTo>
                  <a:pt x="50779" y="28780"/>
                </a:lnTo>
                <a:lnTo>
                  <a:pt x="28756" y="50821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8" name="object 8"/>
          <p:cNvSpPr/>
          <p:nvPr/>
        </p:nvSpPr>
        <p:spPr>
          <a:xfrm>
            <a:off x="297062" y="1645846"/>
            <a:ext cx="50800" cy="51435"/>
          </a:xfrm>
          <a:custGeom>
            <a:avLst/>
            <a:gdLst/>
            <a:ahLst/>
            <a:cxnLst/>
            <a:rect l="l" t="t" r="r" b="b"/>
            <a:pathLst>
              <a:path w="50800" h="51435">
                <a:moveTo>
                  <a:pt x="28756" y="50821"/>
                </a:moveTo>
                <a:lnTo>
                  <a:pt x="22023" y="50821"/>
                </a:lnTo>
                <a:lnTo>
                  <a:pt x="18784" y="50176"/>
                </a:lnTo>
                <a:lnTo>
                  <a:pt x="0" y="28780"/>
                </a:lnTo>
                <a:lnTo>
                  <a:pt x="0" y="22041"/>
                </a:lnTo>
                <a:lnTo>
                  <a:pt x="22023" y="0"/>
                </a:lnTo>
                <a:lnTo>
                  <a:pt x="28756" y="0"/>
                </a:lnTo>
                <a:lnTo>
                  <a:pt x="50779" y="25410"/>
                </a:lnTo>
                <a:lnTo>
                  <a:pt x="50779" y="28780"/>
                </a:lnTo>
                <a:lnTo>
                  <a:pt x="28756" y="50821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9" name="object 9"/>
          <p:cNvSpPr/>
          <p:nvPr/>
        </p:nvSpPr>
        <p:spPr>
          <a:xfrm>
            <a:off x="297062" y="2154063"/>
            <a:ext cx="50800" cy="51435"/>
          </a:xfrm>
          <a:custGeom>
            <a:avLst/>
            <a:gdLst/>
            <a:ahLst/>
            <a:cxnLst/>
            <a:rect l="l" t="t" r="r" b="b"/>
            <a:pathLst>
              <a:path w="50800" h="51435">
                <a:moveTo>
                  <a:pt x="28756" y="50821"/>
                </a:moveTo>
                <a:lnTo>
                  <a:pt x="22023" y="50821"/>
                </a:lnTo>
                <a:lnTo>
                  <a:pt x="18784" y="50176"/>
                </a:lnTo>
                <a:lnTo>
                  <a:pt x="0" y="28780"/>
                </a:lnTo>
                <a:lnTo>
                  <a:pt x="0" y="22041"/>
                </a:lnTo>
                <a:lnTo>
                  <a:pt x="22023" y="0"/>
                </a:lnTo>
                <a:lnTo>
                  <a:pt x="28756" y="0"/>
                </a:lnTo>
                <a:lnTo>
                  <a:pt x="50779" y="25410"/>
                </a:lnTo>
                <a:lnTo>
                  <a:pt x="50779" y="28780"/>
                </a:lnTo>
                <a:lnTo>
                  <a:pt x="28756" y="50821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0" name="object 10"/>
          <p:cNvSpPr/>
          <p:nvPr/>
        </p:nvSpPr>
        <p:spPr>
          <a:xfrm>
            <a:off x="297062" y="2662281"/>
            <a:ext cx="50800" cy="51435"/>
          </a:xfrm>
          <a:custGeom>
            <a:avLst/>
            <a:gdLst/>
            <a:ahLst/>
            <a:cxnLst/>
            <a:rect l="l" t="t" r="r" b="b"/>
            <a:pathLst>
              <a:path w="50800" h="51435">
                <a:moveTo>
                  <a:pt x="28756" y="50821"/>
                </a:moveTo>
                <a:lnTo>
                  <a:pt x="22023" y="50821"/>
                </a:lnTo>
                <a:lnTo>
                  <a:pt x="18784" y="50176"/>
                </a:lnTo>
                <a:lnTo>
                  <a:pt x="0" y="28780"/>
                </a:lnTo>
                <a:lnTo>
                  <a:pt x="0" y="22041"/>
                </a:lnTo>
                <a:lnTo>
                  <a:pt x="22023" y="0"/>
                </a:lnTo>
                <a:lnTo>
                  <a:pt x="28756" y="0"/>
                </a:lnTo>
                <a:lnTo>
                  <a:pt x="50779" y="25410"/>
                </a:lnTo>
                <a:lnTo>
                  <a:pt x="50779" y="28780"/>
                </a:lnTo>
                <a:lnTo>
                  <a:pt x="28756" y="50821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1" name="object 11"/>
          <p:cNvSpPr/>
          <p:nvPr/>
        </p:nvSpPr>
        <p:spPr>
          <a:xfrm>
            <a:off x="297062" y="3170498"/>
            <a:ext cx="50800" cy="51435"/>
          </a:xfrm>
          <a:custGeom>
            <a:avLst/>
            <a:gdLst/>
            <a:ahLst/>
            <a:cxnLst/>
            <a:rect l="l" t="t" r="r" b="b"/>
            <a:pathLst>
              <a:path w="50800" h="51435">
                <a:moveTo>
                  <a:pt x="28756" y="50821"/>
                </a:moveTo>
                <a:lnTo>
                  <a:pt x="22023" y="50821"/>
                </a:lnTo>
                <a:lnTo>
                  <a:pt x="18784" y="50176"/>
                </a:lnTo>
                <a:lnTo>
                  <a:pt x="0" y="28780"/>
                </a:lnTo>
                <a:lnTo>
                  <a:pt x="0" y="22041"/>
                </a:lnTo>
                <a:lnTo>
                  <a:pt x="22023" y="0"/>
                </a:lnTo>
                <a:lnTo>
                  <a:pt x="28756" y="0"/>
                </a:lnTo>
                <a:lnTo>
                  <a:pt x="50779" y="25410"/>
                </a:lnTo>
                <a:lnTo>
                  <a:pt x="50779" y="28780"/>
                </a:lnTo>
                <a:lnTo>
                  <a:pt x="28756" y="50821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72674" y="146383"/>
            <a:ext cx="3463290" cy="447040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spc="-175" dirty="0"/>
              <a:t>Sol</a:t>
            </a:r>
            <a:r>
              <a:rPr sz="2550" spc="-175" dirty="0">
                <a:latin typeface="Trebuchet MS" panose="020B0603020202020204"/>
                <a:cs typeface="Trebuchet MS" panose="020B0603020202020204"/>
              </a:rPr>
              <a:t>v</a:t>
            </a:r>
            <a:r>
              <a:rPr spc="-175" dirty="0"/>
              <a:t>e</a:t>
            </a:r>
            <a:r>
              <a:rPr spc="-190" dirty="0"/>
              <a:t> </a:t>
            </a:r>
            <a:r>
              <a:rPr spc="-175" dirty="0"/>
              <a:t>Problem</a:t>
            </a:r>
            <a:r>
              <a:rPr spc="-235" dirty="0"/>
              <a:t> </a:t>
            </a:r>
            <a:r>
              <a:rPr sz="2550" spc="-90" dirty="0">
                <a:latin typeface="Trebuchet MS" panose="020B0603020202020204"/>
                <a:cs typeface="Trebuchet MS" panose="020B0603020202020204"/>
              </a:rPr>
              <a:t>w</a:t>
            </a:r>
            <a:r>
              <a:rPr spc="-90" dirty="0"/>
              <a:t>i</a:t>
            </a:r>
            <a:r>
              <a:rPr sz="2550" spc="-90" dirty="0">
                <a:latin typeface="Trebuchet MS" panose="020B0603020202020204"/>
                <a:cs typeface="Trebuchet MS" panose="020B0603020202020204"/>
              </a:rPr>
              <a:t>t</a:t>
            </a:r>
            <a:r>
              <a:rPr spc="-90" dirty="0"/>
              <a:t>h</a:t>
            </a:r>
            <a:r>
              <a:rPr spc="-185" dirty="0"/>
              <a:t> </a:t>
            </a:r>
            <a:r>
              <a:rPr spc="-105" dirty="0"/>
              <a:t>IDS</a:t>
            </a:r>
            <a:endParaRPr sz="2550">
              <a:latin typeface="Trebuchet MS" panose="020B0603020202020204"/>
              <a:cs typeface="Trebuchet MS" panose="020B0603020202020204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4194987" y="-4056"/>
            <a:ext cx="3829685" cy="4516120"/>
            <a:chOff x="4194987" y="-4056"/>
            <a:chExt cx="3829685" cy="4516120"/>
          </a:xfrm>
        </p:grpSpPr>
        <p:pic>
          <p:nvPicPr>
            <p:cNvPr id="4" name="object 4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4199044" y="0"/>
              <a:ext cx="3821009" cy="4507992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4199044" y="0"/>
              <a:ext cx="3821429" cy="4508500"/>
            </a:xfrm>
            <a:custGeom>
              <a:avLst/>
              <a:gdLst/>
              <a:ahLst/>
              <a:cxnLst/>
              <a:rect l="l" t="t" r="r" b="b"/>
              <a:pathLst>
                <a:path w="3821429" h="4508500">
                  <a:moveTo>
                    <a:pt x="0" y="4507991"/>
                  </a:moveTo>
                  <a:lnTo>
                    <a:pt x="0" y="0"/>
                  </a:lnTo>
                  <a:lnTo>
                    <a:pt x="3821005" y="0"/>
                  </a:lnTo>
                  <a:lnTo>
                    <a:pt x="3821009" y="4507991"/>
                  </a:lnTo>
                </a:path>
              </a:pathLst>
            </a:custGeom>
            <a:ln w="8112">
              <a:solidFill>
                <a:srgbClr val="D9D9D9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" name="object 6"/>
          <p:cNvSpPr txBox="1"/>
          <p:nvPr/>
        </p:nvSpPr>
        <p:spPr>
          <a:xfrm>
            <a:off x="395318" y="842849"/>
            <a:ext cx="3556000" cy="30753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255270">
              <a:lnSpc>
                <a:spcPct val="119000"/>
              </a:lnSpc>
              <a:spcBef>
                <a:spcPts val="100"/>
              </a:spcBef>
            </a:pPr>
            <a:r>
              <a:rPr sz="1400" spc="-114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IDS</a:t>
            </a:r>
            <a:r>
              <a:rPr sz="1400" spc="-75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1400" spc="-65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(Iterative</a:t>
            </a:r>
            <a:r>
              <a:rPr sz="1400" spc="-70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1400" spc="-75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Deepening </a:t>
            </a:r>
            <a:r>
              <a:rPr sz="1400" spc="-10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Search) </a:t>
            </a:r>
            <a:r>
              <a:rPr sz="1400" spc="-2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combines</a:t>
            </a:r>
            <a:r>
              <a:rPr sz="1400" spc="-4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165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DFS</a:t>
            </a:r>
            <a:r>
              <a:rPr sz="1400" spc="-65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1400" spc="-60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memory</a:t>
            </a:r>
            <a:r>
              <a:rPr sz="1400" spc="-65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1400" spc="-95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efficiency</a:t>
            </a:r>
            <a:r>
              <a:rPr sz="1400" spc="-65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1400" spc="-2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with </a:t>
            </a:r>
            <a:r>
              <a:rPr sz="1400" spc="-200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BFS</a:t>
            </a:r>
            <a:r>
              <a:rPr sz="1400" spc="-90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1400" spc="-10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optimality</a:t>
            </a:r>
            <a:r>
              <a:rPr sz="14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.</a:t>
            </a:r>
            <a:endParaRPr sz="1400">
              <a:latin typeface="Lucida Sans Unicode" panose="020B0602030504020204"/>
              <a:cs typeface="Lucida Sans Unicode" panose="020B0602030504020204"/>
            </a:endParaRPr>
          </a:p>
          <a:p>
            <a:pPr marL="12700">
              <a:lnSpc>
                <a:spcPct val="100000"/>
              </a:lnSpc>
              <a:spcBef>
                <a:spcPts val="320"/>
              </a:spcBef>
            </a:pPr>
            <a:r>
              <a:rPr sz="14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Repeatedly</a:t>
            </a:r>
            <a:r>
              <a:rPr sz="1400" spc="-5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2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applies</a:t>
            </a:r>
            <a:r>
              <a:rPr sz="1400" spc="-4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60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Depth-</a:t>
            </a:r>
            <a:r>
              <a:rPr sz="1400" spc="-75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Limited</a:t>
            </a:r>
            <a:r>
              <a:rPr sz="1400" spc="-70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1400" spc="-95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Search</a:t>
            </a:r>
            <a:endParaRPr sz="1400">
              <a:latin typeface="Arial Black" panose="020B0A04020102020204"/>
              <a:cs typeface="Arial Black" panose="020B0A04020102020204"/>
            </a:endParaRPr>
          </a:p>
          <a:p>
            <a:pPr marL="12700" marR="447675">
              <a:lnSpc>
                <a:spcPct val="119000"/>
              </a:lnSpc>
            </a:pPr>
            <a:r>
              <a:rPr sz="14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with</a:t>
            </a:r>
            <a:r>
              <a:rPr sz="1400" spc="-7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3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increasing</a:t>
            </a:r>
            <a:r>
              <a:rPr sz="1400" spc="-7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depth</a:t>
            </a:r>
            <a:r>
              <a:rPr sz="1400" spc="-7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limits. </a:t>
            </a:r>
            <a:r>
              <a:rPr sz="1400" spc="-3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Explores</a:t>
            </a:r>
            <a:r>
              <a:rPr sz="1400" spc="-8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6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puzzle</a:t>
            </a:r>
            <a:r>
              <a:rPr sz="1400" spc="-8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2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states</a:t>
            </a:r>
            <a:r>
              <a:rPr sz="1400" spc="-8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up</a:t>
            </a:r>
            <a:r>
              <a:rPr sz="1400" spc="-8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to</a:t>
            </a:r>
            <a:r>
              <a:rPr sz="1400" spc="-8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a</a:t>
            </a:r>
            <a:r>
              <a:rPr sz="1400" spc="-7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certain </a:t>
            </a:r>
            <a:r>
              <a:rPr sz="1400" spc="-2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depth,</a:t>
            </a:r>
            <a:r>
              <a:rPr sz="1400" spc="-7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then</a:t>
            </a:r>
            <a:r>
              <a:rPr sz="1400" spc="-7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2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increases</a:t>
            </a:r>
            <a:r>
              <a:rPr sz="1400" spc="-7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the</a:t>
            </a:r>
            <a:r>
              <a:rPr sz="1400" spc="-7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limit.</a:t>
            </a:r>
            <a:endParaRPr sz="1400">
              <a:latin typeface="Lucida Sans Unicode" panose="020B0602030504020204"/>
              <a:cs typeface="Lucida Sans Unicode" panose="020B0602030504020204"/>
            </a:endParaRPr>
          </a:p>
          <a:p>
            <a:pPr marL="12700" marR="94615">
              <a:lnSpc>
                <a:spcPct val="119000"/>
              </a:lnSpc>
            </a:pPr>
            <a:r>
              <a:rPr sz="1400" spc="-90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Guarantees</a:t>
            </a:r>
            <a:r>
              <a:rPr sz="1400" spc="-65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1400" spc="-55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the</a:t>
            </a:r>
            <a:r>
              <a:rPr sz="1400" spc="-60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1400" spc="-75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shortest</a:t>
            </a:r>
            <a:r>
              <a:rPr sz="1400" spc="-65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 solution</a:t>
            </a:r>
            <a:r>
              <a:rPr sz="1400" spc="-60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1400" spc="-2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when </a:t>
            </a:r>
            <a:r>
              <a:rPr sz="1400" spc="-3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all</a:t>
            </a:r>
            <a:r>
              <a:rPr sz="1400" spc="-8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2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moves</a:t>
            </a:r>
            <a:r>
              <a:rPr sz="1400" spc="-8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have</a:t>
            </a:r>
            <a:r>
              <a:rPr sz="1400" spc="-7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equal</a:t>
            </a:r>
            <a:r>
              <a:rPr sz="1400" spc="-8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2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cost.</a:t>
            </a:r>
            <a:endParaRPr sz="1400">
              <a:latin typeface="Lucida Sans Unicode" panose="020B0602030504020204"/>
              <a:cs typeface="Lucida Sans Unicode" panose="020B0602030504020204"/>
            </a:endParaRPr>
          </a:p>
          <a:p>
            <a:pPr marL="12700" marR="43180">
              <a:lnSpc>
                <a:spcPct val="119000"/>
              </a:lnSpc>
            </a:pPr>
            <a:r>
              <a:rPr sz="1400" spc="-80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Advantage:</a:t>
            </a:r>
            <a:r>
              <a:rPr sz="1400" spc="-100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14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Uses</a:t>
            </a:r>
            <a:r>
              <a:rPr sz="1400" spc="-7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3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less</a:t>
            </a:r>
            <a:r>
              <a:rPr sz="1400" spc="-7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memory</a:t>
            </a:r>
            <a:r>
              <a:rPr sz="1400" spc="-7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than</a:t>
            </a:r>
            <a:r>
              <a:rPr sz="1400" spc="-7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2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BFS. </a:t>
            </a:r>
            <a:r>
              <a:rPr sz="1400" spc="-85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Disadvantage:</a:t>
            </a:r>
            <a:r>
              <a:rPr sz="1400" spc="-75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14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Repeats</a:t>
            </a:r>
            <a:r>
              <a:rPr sz="1400" spc="-4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node</a:t>
            </a:r>
            <a:r>
              <a:rPr sz="1400" spc="-4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3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expansions, </a:t>
            </a:r>
            <a:r>
              <a:rPr sz="1400" spc="-2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which</a:t>
            </a:r>
            <a:r>
              <a:rPr sz="1400" spc="-6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2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increases</a:t>
            </a:r>
            <a:r>
              <a:rPr sz="1400" spc="-6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2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time.</a:t>
            </a:r>
            <a:endParaRPr sz="1400">
              <a:latin typeface="Lucida Sans Unicode" panose="020B0602030504020204"/>
              <a:cs typeface="Lucida Sans Unicode" panose="020B0602030504020204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222671" y="1010556"/>
            <a:ext cx="50800" cy="51435"/>
          </a:xfrm>
          <a:custGeom>
            <a:avLst/>
            <a:gdLst/>
            <a:ahLst/>
            <a:cxnLst/>
            <a:rect l="l" t="t" r="r" b="b"/>
            <a:pathLst>
              <a:path w="50800" h="51434">
                <a:moveTo>
                  <a:pt x="28756" y="50821"/>
                </a:moveTo>
                <a:lnTo>
                  <a:pt x="22023" y="50821"/>
                </a:lnTo>
                <a:lnTo>
                  <a:pt x="18784" y="50176"/>
                </a:lnTo>
                <a:lnTo>
                  <a:pt x="0" y="28780"/>
                </a:lnTo>
                <a:lnTo>
                  <a:pt x="0" y="22041"/>
                </a:lnTo>
                <a:lnTo>
                  <a:pt x="22023" y="0"/>
                </a:lnTo>
                <a:lnTo>
                  <a:pt x="28756" y="0"/>
                </a:lnTo>
                <a:lnTo>
                  <a:pt x="50779" y="25410"/>
                </a:lnTo>
                <a:lnTo>
                  <a:pt x="50779" y="28780"/>
                </a:lnTo>
                <a:lnTo>
                  <a:pt x="28756" y="50821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8" name="object 8"/>
          <p:cNvSpPr/>
          <p:nvPr/>
        </p:nvSpPr>
        <p:spPr>
          <a:xfrm>
            <a:off x="222671" y="1772882"/>
            <a:ext cx="50800" cy="51435"/>
          </a:xfrm>
          <a:custGeom>
            <a:avLst/>
            <a:gdLst/>
            <a:ahLst/>
            <a:cxnLst/>
            <a:rect l="l" t="t" r="r" b="b"/>
            <a:pathLst>
              <a:path w="50800" h="51435">
                <a:moveTo>
                  <a:pt x="28756" y="50821"/>
                </a:moveTo>
                <a:lnTo>
                  <a:pt x="22023" y="50821"/>
                </a:lnTo>
                <a:lnTo>
                  <a:pt x="18784" y="50176"/>
                </a:lnTo>
                <a:lnTo>
                  <a:pt x="0" y="28780"/>
                </a:lnTo>
                <a:lnTo>
                  <a:pt x="0" y="22041"/>
                </a:lnTo>
                <a:lnTo>
                  <a:pt x="22023" y="0"/>
                </a:lnTo>
                <a:lnTo>
                  <a:pt x="28756" y="0"/>
                </a:lnTo>
                <a:lnTo>
                  <a:pt x="50779" y="25410"/>
                </a:lnTo>
                <a:lnTo>
                  <a:pt x="50779" y="28780"/>
                </a:lnTo>
                <a:lnTo>
                  <a:pt x="28756" y="50821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9" name="object 9"/>
          <p:cNvSpPr/>
          <p:nvPr/>
        </p:nvSpPr>
        <p:spPr>
          <a:xfrm>
            <a:off x="222671" y="2281099"/>
            <a:ext cx="50800" cy="51435"/>
          </a:xfrm>
          <a:custGeom>
            <a:avLst/>
            <a:gdLst/>
            <a:ahLst/>
            <a:cxnLst/>
            <a:rect l="l" t="t" r="r" b="b"/>
            <a:pathLst>
              <a:path w="50800" h="51435">
                <a:moveTo>
                  <a:pt x="28756" y="50821"/>
                </a:moveTo>
                <a:lnTo>
                  <a:pt x="22023" y="50821"/>
                </a:lnTo>
                <a:lnTo>
                  <a:pt x="18784" y="50176"/>
                </a:lnTo>
                <a:lnTo>
                  <a:pt x="0" y="28780"/>
                </a:lnTo>
                <a:lnTo>
                  <a:pt x="0" y="22041"/>
                </a:lnTo>
                <a:lnTo>
                  <a:pt x="22023" y="0"/>
                </a:lnTo>
                <a:lnTo>
                  <a:pt x="28756" y="0"/>
                </a:lnTo>
                <a:lnTo>
                  <a:pt x="50779" y="25410"/>
                </a:lnTo>
                <a:lnTo>
                  <a:pt x="50779" y="28780"/>
                </a:lnTo>
                <a:lnTo>
                  <a:pt x="28756" y="50821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0" name="object 10"/>
          <p:cNvSpPr/>
          <p:nvPr/>
        </p:nvSpPr>
        <p:spPr>
          <a:xfrm>
            <a:off x="222671" y="2789316"/>
            <a:ext cx="50800" cy="51435"/>
          </a:xfrm>
          <a:custGeom>
            <a:avLst/>
            <a:gdLst/>
            <a:ahLst/>
            <a:cxnLst/>
            <a:rect l="l" t="t" r="r" b="b"/>
            <a:pathLst>
              <a:path w="50800" h="51435">
                <a:moveTo>
                  <a:pt x="28756" y="50821"/>
                </a:moveTo>
                <a:lnTo>
                  <a:pt x="22023" y="50821"/>
                </a:lnTo>
                <a:lnTo>
                  <a:pt x="18784" y="50176"/>
                </a:lnTo>
                <a:lnTo>
                  <a:pt x="0" y="28780"/>
                </a:lnTo>
                <a:lnTo>
                  <a:pt x="0" y="22041"/>
                </a:lnTo>
                <a:lnTo>
                  <a:pt x="22023" y="0"/>
                </a:lnTo>
                <a:lnTo>
                  <a:pt x="28756" y="0"/>
                </a:lnTo>
                <a:lnTo>
                  <a:pt x="50779" y="25410"/>
                </a:lnTo>
                <a:lnTo>
                  <a:pt x="50779" y="28780"/>
                </a:lnTo>
                <a:lnTo>
                  <a:pt x="28756" y="50821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1" name="object 11"/>
          <p:cNvSpPr/>
          <p:nvPr/>
        </p:nvSpPr>
        <p:spPr>
          <a:xfrm>
            <a:off x="222671" y="3297534"/>
            <a:ext cx="50800" cy="51435"/>
          </a:xfrm>
          <a:custGeom>
            <a:avLst/>
            <a:gdLst/>
            <a:ahLst/>
            <a:cxnLst/>
            <a:rect l="l" t="t" r="r" b="b"/>
            <a:pathLst>
              <a:path w="50800" h="51435">
                <a:moveTo>
                  <a:pt x="28756" y="50821"/>
                </a:moveTo>
                <a:lnTo>
                  <a:pt x="22023" y="50821"/>
                </a:lnTo>
                <a:lnTo>
                  <a:pt x="18784" y="50176"/>
                </a:lnTo>
                <a:lnTo>
                  <a:pt x="0" y="28780"/>
                </a:lnTo>
                <a:lnTo>
                  <a:pt x="0" y="22041"/>
                </a:lnTo>
                <a:lnTo>
                  <a:pt x="22023" y="0"/>
                </a:lnTo>
                <a:lnTo>
                  <a:pt x="28756" y="0"/>
                </a:lnTo>
                <a:lnTo>
                  <a:pt x="50779" y="25410"/>
                </a:lnTo>
                <a:lnTo>
                  <a:pt x="50779" y="28780"/>
                </a:lnTo>
                <a:lnTo>
                  <a:pt x="28756" y="50821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2" name="object 12"/>
          <p:cNvSpPr/>
          <p:nvPr/>
        </p:nvSpPr>
        <p:spPr>
          <a:xfrm>
            <a:off x="222671" y="3551643"/>
            <a:ext cx="50800" cy="51435"/>
          </a:xfrm>
          <a:custGeom>
            <a:avLst/>
            <a:gdLst/>
            <a:ahLst/>
            <a:cxnLst/>
            <a:rect l="l" t="t" r="r" b="b"/>
            <a:pathLst>
              <a:path w="50800" h="51435">
                <a:moveTo>
                  <a:pt x="28756" y="50821"/>
                </a:moveTo>
                <a:lnTo>
                  <a:pt x="22023" y="50821"/>
                </a:lnTo>
                <a:lnTo>
                  <a:pt x="18784" y="50176"/>
                </a:lnTo>
                <a:lnTo>
                  <a:pt x="0" y="28780"/>
                </a:lnTo>
                <a:lnTo>
                  <a:pt x="0" y="22041"/>
                </a:lnTo>
                <a:lnTo>
                  <a:pt x="22023" y="0"/>
                </a:lnTo>
                <a:lnTo>
                  <a:pt x="28756" y="0"/>
                </a:lnTo>
                <a:lnTo>
                  <a:pt x="50779" y="25410"/>
                </a:lnTo>
                <a:lnTo>
                  <a:pt x="50779" y="28780"/>
                </a:lnTo>
                <a:lnTo>
                  <a:pt x="28756" y="50821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72674" y="146383"/>
            <a:ext cx="3295015" cy="447040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spc="-175" dirty="0"/>
              <a:t>Sol</a:t>
            </a:r>
            <a:r>
              <a:rPr sz="2550" spc="-175" dirty="0">
                <a:latin typeface="Trebuchet MS" panose="020B0603020202020204"/>
                <a:cs typeface="Trebuchet MS" panose="020B0603020202020204"/>
              </a:rPr>
              <a:t>v</a:t>
            </a:r>
            <a:r>
              <a:rPr spc="-175" dirty="0"/>
              <a:t>e </a:t>
            </a:r>
            <a:r>
              <a:rPr spc="-170" dirty="0"/>
              <a:t>Problem</a:t>
            </a:r>
            <a:r>
              <a:rPr spc="-225" dirty="0"/>
              <a:t> </a:t>
            </a:r>
            <a:r>
              <a:rPr sz="2550" spc="-90" dirty="0">
                <a:latin typeface="Trebuchet MS" panose="020B0603020202020204"/>
                <a:cs typeface="Trebuchet MS" panose="020B0603020202020204"/>
              </a:rPr>
              <a:t>w</a:t>
            </a:r>
            <a:r>
              <a:rPr spc="-90" dirty="0"/>
              <a:t>i</a:t>
            </a:r>
            <a:r>
              <a:rPr sz="2550" spc="-90" dirty="0">
                <a:latin typeface="Trebuchet MS" panose="020B0603020202020204"/>
                <a:cs typeface="Trebuchet MS" panose="020B0603020202020204"/>
              </a:rPr>
              <a:t>t</a:t>
            </a:r>
            <a:r>
              <a:rPr spc="-90" dirty="0"/>
              <a:t>h</a:t>
            </a:r>
            <a:r>
              <a:rPr spc="-260" dirty="0"/>
              <a:t> </a:t>
            </a:r>
            <a:r>
              <a:rPr spc="-105" dirty="0"/>
              <a:t>A</a:t>
            </a:r>
            <a:r>
              <a:rPr sz="2650" spc="-105" dirty="0">
                <a:latin typeface="Cambria" panose="02040503050406030204"/>
                <a:cs typeface="Cambria" panose="02040503050406030204"/>
              </a:rPr>
              <a:t>*</a:t>
            </a:r>
            <a:endParaRPr sz="2650">
              <a:latin typeface="Cambria" panose="02040503050406030204"/>
              <a:cs typeface="Cambria" panose="02040503050406030204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4194987" y="-4056"/>
            <a:ext cx="3829685" cy="4516120"/>
            <a:chOff x="4194987" y="-4056"/>
            <a:chExt cx="3829685" cy="4516120"/>
          </a:xfrm>
        </p:grpSpPr>
        <p:pic>
          <p:nvPicPr>
            <p:cNvPr id="4" name="object 4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4199044" y="0"/>
              <a:ext cx="3821009" cy="4507992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4199044" y="0"/>
              <a:ext cx="3821429" cy="4508500"/>
            </a:xfrm>
            <a:custGeom>
              <a:avLst/>
              <a:gdLst/>
              <a:ahLst/>
              <a:cxnLst/>
              <a:rect l="l" t="t" r="r" b="b"/>
              <a:pathLst>
                <a:path w="3821429" h="4508500">
                  <a:moveTo>
                    <a:pt x="0" y="4507991"/>
                  </a:moveTo>
                  <a:lnTo>
                    <a:pt x="0" y="0"/>
                  </a:lnTo>
                  <a:lnTo>
                    <a:pt x="3821005" y="0"/>
                  </a:lnTo>
                  <a:lnTo>
                    <a:pt x="3821009" y="4507991"/>
                  </a:lnTo>
                </a:path>
              </a:pathLst>
            </a:custGeom>
            <a:ln w="8112">
              <a:solidFill>
                <a:srgbClr val="D9D9D9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" name="object 6"/>
          <p:cNvSpPr txBox="1"/>
          <p:nvPr/>
        </p:nvSpPr>
        <p:spPr>
          <a:xfrm>
            <a:off x="469708" y="715777"/>
            <a:ext cx="3535679" cy="332930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358775" algn="just">
              <a:lnSpc>
                <a:spcPct val="119000"/>
              </a:lnSpc>
              <a:spcBef>
                <a:spcPts val="100"/>
              </a:spcBef>
            </a:pPr>
            <a:r>
              <a:rPr sz="1400" spc="-145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A*</a:t>
            </a:r>
            <a:r>
              <a:rPr sz="1400" spc="25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1400" spc="-5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is</a:t>
            </a:r>
            <a:r>
              <a:rPr sz="1400" spc="-5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a</a:t>
            </a:r>
            <a:r>
              <a:rPr sz="1400" spc="-1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3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heuristic</a:t>
            </a:r>
            <a:r>
              <a:rPr sz="1400" spc="-4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2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search</a:t>
            </a:r>
            <a:r>
              <a:rPr sz="1400" spc="-3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2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algorithm</a:t>
            </a:r>
            <a:r>
              <a:rPr sz="1400" spc="-4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2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that </a:t>
            </a:r>
            <a:r>
              <a:rPr sz="1400" spc="-3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selects</a:t>
            </a:r>
            <a:r>
              <a:rPr sz="1400" spc="-7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the</a:t>
            </a:r>
            <a:r>
              <a:rPr sz="1400" spc="-7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2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most</a:t>
            </a:r>
            <a:r>
              <a:rPr sz="1400" spc="-7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3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promising</a:t>
            </a:r>
            <a:r>
              <a:rPr sz="1400" spc="-6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state</a:t>
            </a:r>
            <a:r>
              <a:rPr sz="1400" spc="-7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first. </a:t>
            </a:r>
            <a:r>
              <a:rPr sz="140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It</a:t>
            </a:r>
            <a:r>
              <a:rPr sz="1400" spc="-6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2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uses</a:t>
            </a:r>
            <a:r>
              <a:rPr sz="1400" spc="-6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the</a:t>
            </a:r>
            <a:r>
              <a:rPr sz="1400" spc="-6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2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evaluation</a:t>
            </a:r>
            <a:r>
              <a:rPr sz="1400" spc="-6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function:</a:t>
            </a:r>
            <a:endParaRPr sz="1400">
              <a:latin typeface="Lucida Sans Unicode" panose="020B0602030504020204"/>
              <a:cs typeface="Lucida Sans Unicode" panose="020B0602030504020204"/>
            </a:endParaRPr>
          </a:p>
          <a:p>
            <a:pPr marL="12700" algn="just">
              <a:lnSpc>
                <a:spcPct val="100000"/>
              </a:lnSpc>
              <a:spcBef>
                <a:spcPts val="320"/>
              </a:spcBef>
            </a:pPr>
            <a:r>
              <a:rPr sz="1400" spc="-55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f(n)</a:t>
            </a:r>
            <a:r>
              <a:rPr sz="1400" spc="-100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1400" spc="-135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=</a:t>
            </a:r>
            <a:r>
              <a:rPr sz="1400" spc="-95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1400" spc="-65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g(n)</a:t>
            </a:r>
            <a:r>
              <a:rPr sz="1400" spc="-95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1400" spc="-135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+</a:t>
            </a:r>
            <a:r>
              <a:rPr sz="1400" spc="-95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1400" spc="-20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h(n)</a:t>
            </a:r>
            <a:endParaRPr sz="1400">
              <a:latin typeface="Arial Black" panose="020B0A04020102020204"/>
              <a:cs typeface="Arial Black" panose="020B0A04020102020204"/>
            </a:endParaRPr>
          </a:p>
          <a:p>
            <a:pPr marL="12700" marR="387350">
              <a:lnSpc>
                <a:spcPct val="119000"/>
              </a:lnSpc>
            </a:pPr>
            <a:r>
              <a:rPr sz="1400" spc="-70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g(n):</a:t>
            </a:r>
            <a:r>
              <a:rPr sz="1400" spc="-95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1400" spc="-5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Cost</a:t>
            </a:r>
            <a:r>
              <a:rPr sz="1400" spc="-6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2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from</a:t>
            </a:r>
            <a:r>
              <a:rPr sz="1400" spc="-6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2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start</a:t>
            </a:r>
            <a:r>
              <a:rPr sz="1400" spc="-7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to</a:t>
            </a:r>
            <a:r>
              <a:rPr sz="1400" spc="-6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2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current</a:t>
            </a:r>
            <a:r>
              <a:rPr sz="1400" spc="-6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2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state </a:t>
            </a:r>
            <a:r>
              <a:rPr sz="1400" spc="-65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h(n):</a:t>
            </a:r>
            <a:r>
              <a:rPr sz="1400" spc="-85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1400" spc="-2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Estimated</a:t>
            </a:r>
            <a:r>
              <a:rPr sz="1400" spc="-6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4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cost</a:t>
            </a:r>
            <a:r>
              <a:rPr sz="1400" spc="-6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to</a:t>
            </a:r>
            <a:r>
              <a:rPr sz="1400" spc="-6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2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reach</a:t>
            </a:r>
            <a:r>
              <a:rPr sz="1400" spc="-6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the</a:t>
            </a:r>
            <a:r>
              <a:rPr sz="1400" spc="-6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2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goal </a:t>
            </a:r>
            <a:r>
              <a:rPr sz="1400" spc="-85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Heuristic</a:t>
            </a:r>
            <a:r>
              <a:rPr sz="1400" spc="-35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1400" spc="-110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Used:</a:t>
            </a:r>
            <a:r>
              <a:rPr sz="1400" spc="-30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1400" i="1" dirty="0">
                <a:solidFill>
                  <a:srgbClr val="1A1A1A"/>
                </a:solidFill>
                <a:latin typeface="Trebuchet MS" panose="020B0603020202020204"/>
                <a:cs typeface="Trebuchet MS" panose="020B0603020202020204"/>
              </a:rPr>
              <a:t>Manhattan</a:t>
            </a:r>
            <a:r>
              <a:rPr sz="1400" i="1" spc="15" dirty="0">
                <a:solidFill>
                  <a:srgbClr val="1A1A1A"/>
                </a:solidFill>
                <a:latin typeface="Trebuchet MS" panose="020B0603020202020204"/>
                <a:cs typeface="Trebuchet MS" panose="020B0603020202020204"/>
              </a:rPr>
              <a:t> </a:t>
            </a:r>
            <a:r>
              <a:rPr sz="1400" i="1" spc="-10" dirty="0">
                <a:solidFill>
                  <a:srgbClr val="1A1A1A"/>
                </a:solidFill>
                <a:latin typeface="Trebuchet MS" panose="020B0603020202020204"/>
                <a:cs typeface="Trebuchet MS" panose="020B0603020202020204"/>
              </a:rPr>
              <a:t>Distance</a:t>
            </a:r>
            <a:endParaRPr sz="1400">
              <a:latin typeface="Trebuchet MS" panose="020B0603020202020204"/>
              <a:cs typeface="Trebuchet MS" panose="020B0603020202020204"/>
            </a:endParaRPr>
          </a:p>
          <a:p>
            <a:pPr marL="545465" marR="219710">
              <a:lnSpc>
                <a:spcPct val="119000"/>
              </a:lnSpc>
            </a:pPr>
            <a:r>
              <a:rPr sz="140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Sum</a:t>
            </a:r>
            <a:r>
              <a:rPr sz="1400" spc="-8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3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of</a:t>
            </a:r>
            <a:r>
              <a:rPr sz="1400" spc="-8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2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grid</a:t>
            </a:r>
            <a:r>
              <a:rPr sz="1400" spc="-7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2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distances</a:t>
            </a:r>
            <a:r>
              <a:rPr sz="1400" spc="-8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3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of</a:t>
            </a:r>
            <a:r>
              <a:rPr sz="1400" spc="-7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each</a:t>
            </a:r>
            <a:r>
              <a:rPr sz="1400" spc="-8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2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tile </a:t>
            </a:r>
            <a:r>
              <a:rPr sz="1400" spc="-2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from</a:t>
            </a:r>
            <a:r>
              <a:rPr sz="1400" spc="-7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4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its</a:t>
            </a:r>
            <a:r>
              <a:rPr sz="1400" spc="-7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2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goal</a:t>
            </a:r>
            <a:r>
              <a:rPr sz="1400" spc="-7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position.</a:t>
            </a:r>
            <a:endParaRPr sz="1400">
              <a:latin typeface="Lucida Sans Unicode" panose="020B0602030504020204"/>
              <a:cs typeface="Lucida Sans Unicode" panose="020B0602030504020204"/>
            </a:endParaRPr>
          </a:p>
          <a:p>
            <a:pPr marL="12700" marR="5080">
              <a:lnSpc>
                <a:spcPct val="119000"/>
              </a:lnSpc>
            </a:pPr>
            <a:r>
              <a:rPr sz="1400" spc="-80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Advantage:</a:t>
            </a:r>
            <a:r>
              <a:rPr sz="1400" spc="-85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14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Guarantees</a:t>
            </a:r>
            <a:r>
              <a:rPr sz="1400" spc="-5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the</a:t>
            </a:r>
            <a:r>
              <a:rPr sz="1400" spc="-5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2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shortest</a:t>
            </a:r>
            <a:r>
              <a:rPr sz="1400" spc="-6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2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path </a:t>
            </a:r>
            <a:r>
              <a:rPr sz="14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with</a:t>
            </a:r>
            <a:r>
              <a:rPr sz="1400" spc="-7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an</a:t>
            </a:r>
            <a:r>
              <a:rPr sz="1400" spc="-7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3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admissible</a:t>
            </a:r>
            <a:r>
              <a:rPr sz="1400" spc="-6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heuristic.</a:t>
            </a:r>
            <a:endParaRPr sz="1400">
              <a:latin typeface="Lucida Sans Unicode" panose="020B0602030504020204"/>
              <a:cs typeface="Lucida Sans Unicode" panose="020B0602030504020204"/>
            </a:endParaRPr>
          </a:p>
          <a:p>
            <a:pPr marL="12700" marR="84455">
              <a:lnSpc>
                <a:spcPct val="119000"/>
              </a:lnSpc>
            </a:pPr>
            <a:r>
              <a:rPr sz="1400" spc="-85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Disadvantage:</a:t>
            </a:r>
            <a:r>
              <a:rPr sz="1400" spc="-30" dirty="0">
                <a:solidFill>
                  <a:srgbClr val="1A1A1A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14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Performance</a:t>
            </a:r>
            <a:r>
              <a:rPr sz="1400" spc="-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2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depends</a:t>
            </a:r>
            <a:r>
              <a:rPr sz="140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3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on </a:t>
            </a:r>
            <a:r>
              <a:rPr sz="14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the</a:t>
            </a:r>
            <a:r>
              <a:rPr sz="1400" spc="-7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2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quality</a:t>
            </a:r>
            <a:r>
              <a:rPr sz="1400" spc="-7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3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of</a:t>
            </a:r>
            <a:r>
              <a:rPr sz="1400" spc="-7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the</a:t>
            </a:r>
            <a:r>
              <a:rPr sz="1400" spc="-75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spc="-10" dirty="0">
                <a:solidFill>
                  <a:srgbClr val="1A1A1A"/>
                </a:solidFill>
                <a:latin typeface="Lucida Sans Unicode" panose="020B0602030504020204"/>
                <a:cs typeface="Lucida Sans Unicode" panose="020B0602030504020204"/>
              </a:rPr>
              <a:t>heuristic.</a:t>
            </a:r>
            <a:endParaRPr sz="1400">
              <a:latin typeface="Lucida Sans Unicode" panose="020B0602030504020204"/>
              <a:cs typeface="Lucida Sans Unicode" panose="020B0602030504020204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297062" y="883482"/>
            <a:ext cx="50800" cy="51435"/>
          </a:xfrm>
          <a:custGeom>
            <a:avLst/>
            <a:gdLst/>
            <a:ahLst/>
            <a:cxnLst/>
            <a:rect l="l" t="t" r="r" b="b"/>
            <a:pathLst>
              <a:path w="50800" h="51434">
                <a:moveTo>
                  <a:pt x="28756" y="50821"/>
                </a:moveTo>
                <a:lnTo>
                  <a:pt x="22023" y="50821"/>
                </a:lnTo>
                <a:lnTo>
                  <a:pt x="18784" y="50176"/>
                </a:lnTo>
                <a:lnTo>
                  <a:pt x="0" y="28780"/>
                </a:lnTo>
                <a:lnTo>
                  <a:pt x="0" y="22041"/>
                </a:lnTo>
                <a:lnTo>
                  <a:pt x="22023" y="0"/>
                </a:lnTo>
                <a:lnTo>
                  <a:pt x="28756" y="0"/>
                </a:lnTo>
                <a:lnTo>
                  <a:pt x="50779" y="25410"/>
                </a:lnTo>
                <a:lnTo>
                  <a:pt x="50779" y="28780"/>
                </a:lnTo>
                <a:lnTo>
                  <a:pt x="28756" y="50821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8" name="object 8"/>
          <p:cNvSpPr/>
          <p:nvPr/>
        </p:nvSpPr>
        <p:spPr>
          <a:xfrm>
            <a:off x="297062" y="1391700"/>
            <a:ext cx="50800" cy="51435"/>
          </a:xfrm>
          <a:custGeom>
            <a:avLst/>
            <a:gdLst/>
            <a:ahLst/>
            <a:cxnLst/>
            <a:rect l="l" t="t" r="r" b="b"/>
            <a:pathLst>
              <a:path w="50800" h="51434">
                <a:moveTo>
                  <a:pt x="28756" y="50821"/>
                </a:moveTo>
                <a:lnTo>
                  <a:pt x="22023" y="50821"/>
                </a:lnTo>
                <a:lnTo>
                  <a:pt x="18784" y="50176"/>
                </a:lnTo>
                <a:lnTo>
                  <a:pt x="0" y="28780"/>
                </a:lnTo>
                <a:lnTo>
                  <a:pt x="0" y="22041"/>
                </a:lnTo>
                <a:lnTo>
                  <a:pt x="22023" y="0"/>
                </a:lnTo>
                <a:lnTo>
                  <a:pt x="28756" y="0"/>
                </a:lnTo>
                <a:lnTo>
                  <a:pt x="50779" y="25410"/>
                </a:lnTo>
                <a:lnTo>
                  <a:pt x="50779" y="28780"/>
                </a:lnTo>
                <a:lnTo>
                  <a:pt x="28756" y="50821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9" name="object 9"/>
          <p:cNvSpPr/>
          <p:nvPr/>
        </p:nvSpPr>
        <p:spPr>
          <a:xfrm>
            <a:off x="297062" y="1899917"/>
            <a:ext cx="50800" cy="51435"/>
          </a:xfrm>
          <a:custGeom>
            <a:avLst/>
            <a:gdLst/>
            <a:ahLst/>
            <a:cxnLst/>
            <a:rect l="l" t="t" r="r" b="b"/>
            <a:pathLst>
              <a:path w="50800" h="51435">
                <a:moveTo>
                  <a:pt x="28756" y="50821"/>
                </a:moveTo>
                <a:lnTo>
                  <a:pt x="22023" y="50821"/>
                </a:lnTo>
                <a:lnTo>
                  <a:pt x="18784" y="50176"/>
                </a:lnTo>
                <a:lnTo>
                  <a:pt x="0" y="28780"/>
                </a:lnTo>
                <a:lnTo>
                  <a:pt x="0" y="22041"/>
                </a:lnTo>
                <a:lnTo>
                  <a:pt x="22023" y="0"/>
                </a:lnTo>
                <a:lnTo>
                  <a:pt x="28756" y="0"/>
                </a:lnTo>
                <a:lnTo>
                  <a:pt x="50779" y="25410"/>
                </a:lnTo>
                <a:lnTo>
                  <a:pt x="50779" y="28780"/>
                </a:lnTo>
                <a:lnTo>
                  <a:pt x="28756" y="50821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0" name="object 10"/>
          <p:cNvSpPr/>
          <p:nvPr/>
        </p:nvSpPr>
        <p:spPr>
          <a:xfrm>
            <a:off x="297062" y="2154026"/>
            <a:ext cx="50800" cy="51435"/>
          </a:xfrm>
          <a:custGeom>
            <a:avLst/>
            <a:gdLst/>
            <a:ahLst/>
            <a:cxnLst/>
            <a:rect l="l" t="t" r="r" b="b"/>
            <a:pathLst>
              <a:path w="50800" h="51435">
                <a:moveTo>
                  <a:pt x="28756" y="50821"/>
                </a:moveTo>
                <a:lnTo>
                  <a:pt x="22023" y="50821"/>
                </a:lnTo>
                <a:lnTo>
                  <a:pt x="18784" y="50176"/>
                </a:lnTo>
                <a:lnTo>
                  <a:pt x="0" y="28780"/>
                </a:lnTo>
                <a:lnTo>
                  <a:pt x="0" y="22041"/>
                </a:lnTo>
                <a:lnTo>
                  <a:pt x="22023" y="0"/>
                </a:lnTo>
                <a:lnTo>
                  <a:pt x="28756" y="0"/>
                </a:lnTo>
                <a:lnTo>
                  <a:pt x="50779" y="25410"/>
                </a:lnTo>
                <a:lnTo>
                  <a:pt x="50779" y="28780"/>
                </a:lnTo>
                <a:lnTo>
                  <a:pt x="28756" y="50821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1" name="object 11"/>
          <p:cNvSpPr/>
          <p:nvPr/>
        </p:nvSpPr>
        <p:spPr>
          <a:xfrm>
            <a:off x="297062" y="2408135"/>
            <a:ext cx="50800" cy="51435"/>
          </a:xfrm>
          <a:custGeom>
            <a:avLst/>
            <a:gdLst/>
            <a:ahLst/>
            <a:cxnLst/>
            <a:rect l="l" t="t" r="r" b="b"/>
            <a:pathLst>
              <a:path w="50800" h="51435">
                <a:moveTo>
                  <a:pt x="28756" y="50821"/>
                </a:moveTo>
                <a:lnTo>
                  <a:pt x="22023" y="50821"/>
                </a:lnTo>
                <a:lnTo>
                  <a:pt x="18784" y="50176"/>
                </a:lnTo>
                <a:lnTo>
                  <a:pt x="0" y="28780"/>
                </a:lnTo>
                <a:lnTo>
                  <a:pt x="0" y="22041"/>
                </a:lnTo>
                <a:lnTo>
                  <a:pt x="22023" y="0"/>
                </a:lnTo>
                <a:lnTo>
                  <a:pt x="28756" y="0"/>
                </a:lnTo>
                <a:lnTo>
                  <a:pt x="50779" y="25410"/>
                </a:lnTo>
                <a:lnTo>
                  <a:pt x="50779" y="28780"/>
                </a:lnTo>
                <a:lnTo>
                  <a:pt x="28756" y="50821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2" name="object 12"/>
          <p:cNvSpPr/>
          <p:nvPr/>
        </p:nvSpPr>
        <p:spPr>
          <a:xfrm>
            <a:off x="830250" y="2662243"/>
            <a:ext cx="50800" cy="51435"/>
          </a:xfrm>
          <a:custGeom>
            <a:avLst/>
            <a:gdLst/>
            <a:ahLst/>
            <a:cxnLst/>
            <a:rect l="l" t="t" r="r" b="b"/>
            <a:pathLst>
              <a:path w="50800" h="51435">
                <a:moveTo>
                  <a:pt x="28756" y="50821"/>
                </a:moveTo>
                <a:lnTo>
                  <a:pt x="22023" y="50821"/>
                </a:lnTo>
                <a:lnTo>
                  <a:pt x="18784" y="50176"/>
                </a:lnTo>
                <a:lnTo>
                  <a:pt x="0" y="28780"/>
                </a:lnTo>
                <a:lnTo>
                  <a:pt x="0" y="22041"/>
                </a:lnTo>
                <a:lnTo>
                  <a:pt x="22023" y="0"/>
                </a:lnTo>
                <a:lnTo>
                  <a:pt x="28756" y="0"/>
                </a:lnTo>
                <a:lnTo>
                  <a:pt x="50779" y="25410"/>
                </a:lnTo>
                <a:lnTo>
                  <a:pt x="50779" y="28780"/>
                </a:lnTo>
                <a:lnTo>
                  <a:pt x="28756" y="50821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3" name="object 13"/>
          <p:cNvSpPr/>
          <p:nvPr/>
        </p:nvSpPr>
        <p:spPr>
          <a:xfrm>
            <a:off x="297062" y="3170461"/>
            <a:ext cx="50800" cy="51435"/>
          </a:xfrm>
          <a:custGeom>
            <a:avLst/>
            <a:gdLst/>
            <a:ahLst/>
            <a:cxnLst/>
            <a:rect l="l" t="t" r="r" b="b"/>
            <a:pathLst>
              <a:path w="50800" h="51435">
                <a:moveTo>
                  <a:pt x="28756" y="50821"/>
                </a:moveTo>
                <a:lnTo>
                  <a:pt x="22023" y="50821"/>
                </a:lnTo>
                <a:lnTo>
                  <a:pt x="18784" y="50176"/>
                </a:lnTo>
                <a:lnTo>
                  <a:pt x="0" y="28780"/>
                </a:lnTo>
                <a:lnTo>
                  <a:pt x="0" y="22041"/>
                </a:lnTo>
                <a:lnTo>
                  <a:pt x="22023" y="0"/>
                </a:lnTo>
                <a:lnTo>
                  <a:pt x="28756" y="0"/>
                </a:lnTo>
                <a:lnTo>
                  <a:pt x="50779" y="25410"/>
                </a:lnTo>
                <a:lnTo>
                  <a:pt x="50779" y="28780"/>
                </a:lnTo>
                <a:lnTo>
                  <a:pt x="28756" y="50821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4" name="object 14"/>
          <p:cNvSpPr/>
          <p:nvPr/>
        </p:nvSpPr>
        <p:spPr>
          <a:xfrm>
            <a:off x="297062" y="3678678"/>
            <a:ext cx="50800" cy="51435"/>
          </a:xfrm>
          <a:custGeom>
            <a:avLst/>
            <a:gdLst/>
            <a:ahLst/>
            <a:cxnLst/>
            <a:rect l="l" t="t" r="r" b="b"/>
            <a:pathLst>
              <a:path w="50800" h="51435">
                <a:moveTo>
                  <a:pt x="28756" y="50821"/>
                </a:moveTo>
                <a:lnTo>
                  <a:pt x="22023" y="50821"/>
                </a:lnTo>
                <a:lnTo>
                  <a:pt x="18784" y="50176"/>
                </a:lnTo>
                <a:lnTo>
                  <a:pt x="0" y="28780"/>
                </a:lnTo>
                <a:lnTo>
                  <a:pt x="0" y="22041"/>
                </a:lnTo>
                <a:lnTo>
                  <a:pt x="22023" y="0"/>
                </a:lnTo>
                <a:lnTo>
                  <a:pt x="28756" y="0"/>
                </a:lnTo>
                <a:lnTo>
                  <a:pt x="50779" y="25410"/>
                </a:lnTo>
                <a:lnTo>
                  <a:pt x="50779" y="28780"/>
                </a:lnTo>
                <a:lnTo>
                  <a:pt x="28756" y="50821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21302" y="324266"/>
            <a:ext cx="1877695" cy="447040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spc="-145" dirty="0">
                <a:solidFill>
                  <a:srgbClr val="1A1A1A"/>
                </a:solidFill>
              </a:rPr>
              <a:t>Comparison</a:t>
            </a:r>
            <a:endParaRPr spc="-145" dirty="0">
              <a:solidFill>
                <a:srgbClr val="1A1A1A"/>
              </a:solidFill>
            </a:endParaRPr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446504" y="869273"/>
          <a:ext cx="7217409" cy="32277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27480"/>
                <a:gridCol w="1427480"/>
                <a:gridCol w="1427480"/>
                <a:gridCol w="1427479"/>
                <a:gridCol w="1427479"/>
              </a:tblGrid>
              <a:tr h="4216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0" marB="0">
                    <a:lnL w="6350">
                      <a:solidFill>
                        <a:srgbClr val="A8A8A8"/>
                      </a:solidFill>
                      <a:prstDash val="solid"/>
                    </a:lnL>
                    <a:lnR w="6350">
                      <a:solidFill>
                        <a:srgbClr val="A8A8A8"/>
                      </a:solidFill>
                      <a:prstDash val="solid"/>
                    </a:lnR>
                    <a:lnT w="6350">
                      <a:solidFill>
                        <a:srgbClr val="A8A8A8"/>
                      </a:solidFill>
                      <a:prstDash val="solid"/>
                    </a:lnT>
                    <a:lnB w="6350">
                      <a:solidFill>
                        <a:srgbClr val="A8A8A8"/>
                      </a:solidFill>
                      <a:prstDash val="solid"/>
                    </a:lnB>
                    <a:solidFill>
                      <a:srgbClr val="2DC75C">
                        <a:alpha val="6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2050" spc="-305" dirty="0">
                          <a:solidFill>
                            <a:srgbClr val="FFFFFF"/>
                          </a:solidFill>
                          <a:latin typeface="Arial Black" panose="020B0A04020102020204"/>
                          <a:cs typeface="Arial Black" panose="020B0A04020102020204"/>
                        </a:rPr>
                        <a:t>BFS</a:t>
                      </a:r>
                      <a:endParaRPr sz="2050">
                        <a:latin typeface="Arial Black" panose="020B0A04020102020204"/>
                        <a:cs typeface="Arial Black" panose="020B0A04020102020204"/>
                      </a:endParaRPr>
                    </a:p>
                  </a:txBody>
                  <a:tcPr marL="0" marR="0" marT="31750" marB="0">
                    <a:lnL w="6350">
                      <a:solidFill>
                        <a:srgbClr val="A8A8A8"/>
                      </a:solidFill>
                      <a:prstDash val="solid"/>
                    </a:lnL>
                    <a:lnR w="6350">
                      <a:solidFill>
                        <a:srgbClr val="A8A8A8"/>
                      </a:solidFill>
                      <a:prstDash val="solid"/>
                    </a:lnR>
                    <a:lnT w="6350">
                      <a:solidFill>
                        <a:srgbClr val="A8A8A8"/>
                      </a:solidFill>
                      <a:prstDash val="solid"/>
                    </a:lnT>
                    <a:lnB w="6350">
                      <a:solidFill>
                        <a:srgbClr val="A8A8A8"/>
                      </a:solidFill>
                      <a:prstDash val="solid"/>
                    </a:lnB>
                    <a:solidFill>
                      <a:srgbClr val="2DC75C">
                        <a:alpha val="6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2050" spc="-290" dirty="0">
                          <a:solidFill>
                            <a:srgbClr val="FFFFFF"/>
                          </a:solidFill>
                          <a:latin typeface="Arial Black" panose="020B0A04020102020204"/>
                          <a:cs typeface="Arial Black" panose="020B0A04020102020204"/>
                        </a:rPr>
                        <a:t>GBFS</a:t>
                      </a:r>
                      <a:endParaRPr sz="2050">
                        <a:latin typeface="Arial Black" panose="020B0A04020102020204"/>
                        <a:cs typeface="Arial Black" panose="020B0A04020102020204"/>
                      </a:endParaRPr>
                    </a:p>
                  </a:txBody>
                  <a:tcPr marL="0" marR="0" marT="31750" marB="0">
                    <a:lnL w="6350">
                      <a:solidFill>
                        <a:srgbClr val="A8A8A8"/>
                      </a:solidFill>
                      <a:prstDash val="solid"/>
                    </a:lnL>
                    <a:lnR w="6350">
                      <a:solidFill>
                        <a:srgbClr val="A8A8A8"/>
                      </a:solidFill>
                      <a:prstDash val="solid"/>
                    </a:lnR>
                    <a:lnT w="6350">
                      <a:solidFill>
                        <a:srgbClr val="A8A8A8"/>
                      </a:solidFill>
                      <a:prstDash val="solid"/>
                    </a:lnT>
                    <a:lnB w="6350">
                      <a:solidFill>
                        <a:srgbClr val="A8A8A8"/>
                      </a:solidFill>
                      <a:prstDash val="solid"/>
                    </a:lnB>
                    <a:solidFill>
                      <a:srgbClr val="2DC75C">
                        <a:alpha val="6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2050" spc="-25" dirty="0">
                          <a:solidFill>
                            <a:srgbClr val="FFFFFF"/>
                          </a:solidFill>
                          <a:latin typeface="Arial Black" panose="020B0A04020102020204"/>
                          <a:cs typeface="Arial Black" panose="020B0A04020102020204"/>
                        </a:rPr>
                        <a:t>IDS</a:t>
                      </a:r>
                      <a:endParaRPr sz="2050">
                        <a:latin typeface="Arial Black" panose="020B0A04020102020204"/>
                        <a:cs typeface="Arial Black" panose="020B0A04020102020204"/>
                      </a:endParaRPr>
                    </a:p>
                  </a:txBody>
                  <a:tcPr marL="0" marR="0" marT="31750" marB="0">
                    <a:lnL w="6350">
                      <a:solidFill>
                        <a:srgbClr val="A8A8A8"/>
                      </a:solidFill>
                      <a:prstDash val="solid"/>
                    </a:lnL>
                    <a:lnR w="6350">
                      <a:solidFill>
                        <a:srgbClr val="A8A8A8"/>
                      </a:solidFill>
                      <a:prstDash val="solid"/>
                    </a:lnR>
                    <a:lnT w="6350">
                      <a:solidFill>
                        <a:srgbClr val="A8A8A8"/>
                      </a:solidFill>
                      <a:prstDash val="solid"/>
                    </a:lnT>
                    <a:lnB w="6350">
                      <a:solidFill>
                        <a:srgbClr val="A8A8A8"/>
                      </a:solidFill>
                      <a:prstDash val="solid"/>
                    </a:lnB>
                    <a:solidFill>
                      <a:srgbClr val="2DC75C">
                        <a:alpha val="6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2050" spc="-25" dirty="0">
                          <a:solidFill>
                            <a:srgbClr val="FFFFFF"/>
                          </a:solidFill>
                          <a:latin typeface="Arial Black" panose="020B0A04020102020204"/>
                          <a:cs typeface="Arial Black" panose="020B0A04020102020204"/>
                        </a:rPr>
                        <a:t>A*</a:t>
                      </a:r>
                      <a:endParaRPr sz="2050">
                        <a:latin typeface="Arial Black" panose="020B0A04020102020204"/>
                        <a:cs typeface="Arial Black" panose="020B0A04020102020204"/>
                      </a:endParaRPr>
                    </a:p>
                  </a:txBody>
                  <a:tcPr marL="0" marR="0" marT="31750" marB="0">
                    <a:lnL w="6350">
                      <a:solidFill>
                        <a:srgbClr val="A8A8A8"/>
                      </a:solidFill>
                      <a:prstDash val="solid"/>
                    </a:lnL>
                    <a:lnR w="6350">
                      <a:solidFill>
                        <a:srgbClr val="A8A8A8"/>
                      </a:solidFill>
                      <a:prstDash val="solid"/>
                    </a:lnR>
                    <a:lnT w="6350">
                      <a:solidFill>
                        <a:srgbClr val="A8A8A8"/>
                      </a:solidFill>
                      <a:prstDash val="solid"/>
                    </a:lnT>
                    <a:lnB w="6350">
                      <a:solidFill>
                        <a:srgbClr val="A8A8A8"/>
                      </a:solidFill>
                      <a:prstDash val="solid"/>
                    </a:lnB>
                    <a:solidFill>
                      <a:srgbClr val="2DC75C">
                        <a:alpha val="69999"/>
                      </a:srgbClr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500" spc="-10" dirty="0">
                          <a:solidFill>
                            <a:srgbClr val="1A1A1A"/>
                          </a:solidFill>
                          <a:latin typeface="Arial Black" panose="020B0A04020102020204"/>
                          <a:cs typeface="Arial Black" panose="020B0A04020102020204"/>
                        </a:rPr>
                        <a:t>Complete</a:t>
                      </a:r>
                      <a:endParaRPr sz="1500">
                        <a:latin typeface="Arial Black" panose="020B0A04020102020204"/>
                        <a:cs typeface="Arial Black" panose="020B0A04020102020204"/>
                      </a:endParaRPr>
                    </a:p>
                  </a:txBody>
                  <a:tcPr marL="0" marR="0" marT="36830" marB="0">
                    <a:lnL w="6350">
                      <a:solidFill>
                        <a:srgbClr val="A8A8A8"/>
                      </a:solidFill>
                      <a:prstDash val="solid"/>
                    </a:lnL>
                    <a:lnR w="6350">
                      <a:solidFill>
                        <a:srgbClr val="A8A8A8"/>
                      </a:solidFill>
                      <a:prstDash val="solid"/>
                    </a:lnR>
                    <a:lnT w="6350">
                      <a:solidFill>
                        <a:srgbClr val="A8A8A8"/>
                      </a:solidFill>
                      <a:prstDash val="solid"/>
                    </a:lnT>
                    <a:lnB w="6350">
                      <a:solidFill>
                        <a:srgbClr val="A8A8A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500" spc="-25" dirty="0">
                          <a:solidFill>
                            <a:srgbClr val="1A1A1A"/>
                          </a:solidFill>
                          <a:latin typeface="Lucida Sans Unicode" panose="020B0602030504020204"/>
                          <a:cs typeface="Lucida Sans Unicode" panose="020B0602030504020204"/>
                        </a:rPr>
                        <a:t>Yes</a:t>
                      </a:r>
                      <a:endParaRPr sz="1500">
                        <a:latin typeface="Lucida Sans Unicode" panose="020B0602030504020204"/>
                        <a:cs typeface="Lucida Sans Unicode" panose="020B0602030504020204"/>
                      </a:endParaRPr>
                    </a:p>
                  </a:txBody>
                  <a:tcPr marL="0" marR="0" marT="36830" marB="0">
                    <a:lnL w="6350">
                      <a:solidFill>
                        <a:srgbClr val="A8A8A8"/>
                      </a:solidFill>
                      <a:prstDash val="solid"/>
                    </a:lnL>
                    <a:lnR w="6350">
                      <a:solidFill>
                        <a:srgbClr val="A8A8A8"/>
                      </a:solidFill>
                      <a:prstDash val="solid"/>
                    </a:lnR>
                    <a:lnT w="6350">
                      <a:solidFill>
                        <a:srgbClr val="A8A8A8"/>
                      </a:solidFill>
                      <a:prstDash val="solid"/>
                    </a:lnT>
                    <a:lnB w="6350">
                      <a:solidFill>
                        <a:srgbClr val="A8A8A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500" spc="-25" dirty="0">
                          <a:solidFill>
                            <a:srgbClr val="1A1A1A"/>
                          </a:solidFill>
                          <a:latin typeface="Lucida Sans Unicode" panose="020B0602030504020204"/>
                          <a:cs typeface="Lucida Sans Unicode" panose="020B0602030504020204"/>
                        </a:rPr>
                        <a:t>No</a:t>
                      </a:r>
                      <a:endParaRPr sz="1500">
                        <a:latin typeface="Lucida Sans Unicode" panose="020B0602030504020204"/>
                        <a:cs typeface="Lucida Sans Unicode" panose="020B0602030504020204"/>
                      </a:endParaRPr>
                    </a:p>
                  </a:txBody>
                  <a:tcPr marL="0" marR="0" marT="36830" marB="0">
                    <a:lnL w="6350">
                      <a:solidFill>
                        <a:srgbClr val="A8A8A8"/>
                      </a:solidFill>
                      <a:prstDash val="solid"/>
                    </a:lnL>
                    <a:lnR w="6350">
                      <a:solidFill>
                        <a:srgbClr val="A8A8A8"/>
                      </a:solidFill>
                      <a:prstDash val="solid"/>
                    </a:lnR>
                    <a:lnT w="6350">
                      <a:solidFill>
                        <a:srgbClr val="A8A8A8"/>
                      </a:solidFill>
                      <a:prstDash val="solid"/>
                    </a:lnT>
                    <a:lnB w="6350">
                      <a:solidFill>
                        <a:srgbClr val="A8A8A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500" spc="-25" dirty="0">
                          <a:solidFill>
                            <a:srgbClr val="1A1A1A"/>
                          </a:solidFill>
                          <a:latin typeface="Lucida Sans Unicode" panose="020B0602030504020204"/>
                          <a:cs typeface="Lucida Sans Unicode" panose="020B0602030504020204"/>
                        </a:rPr>
                        <a:t>Yes</a:t>
                      </a:r>
                      <a:endParaRPr sz="1500">
                        <a:latin typeface="Lucida Sans Unicode" panose="020B0602030504020204"/>
                        <a:cs typeface="Lucida Sans Unicode" panose="020B0602030504020204"/>
                      </a:endParaRPr>
                    </a:p>
                  </a:txBody>
                  <a:tcPr marL="0" marR="0" marT="36830" marB="0">
                    <a:lnL w="6350">
                      <a:solidFill>
                        <a:srgbClr val="A8A8A8"/>
                      </a:solidFill>
                      <a:prstDash val="solid"/>
                    </a:lnL>
                    <a:lnR w="6350">
                      <a:solidFill>
                        <a:srgbClr val="A8A8A8"/>
                      </a:solidFill>
                      <a:prstDash val="solid"/>
                    </a:lnR>
                    <a:lnT w="6350">
                      <a:solidFill>
                        <a:srgbClr val="A8A8A8"/>
                      </a:solidFill>
                      <a:prstDash val="solid"/>
                    </a:lnT>
                    <a:lnB w="6350">
                      <a:solidFill>
                        <a:srgbClr val="A8A8A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500" spc="-25" dirty="0">
                          <a:solidFill>
                            <a:srgbClr val="1A1A1A"/>
                          </a:solidFill>
                          <a:latin typeface="Lucida Sans Unicode" panose="020B0602030504020204"/>
                          <a:cs typeface="Lucida Sans Unicode" panose="020B0602030504020204"/>
                        </a:rPr>
                        <a:t>Yes</a:t>
                      </a:r>
                      <a:endParaRPr sz="1500">
                        <a:latin typeface="Lucida Sans Unicode" panose="020B0602030504020204"/>
                        <a:cs typeface="Lucida Sans Unicode" panose="020B0602030504020204"/>
                      </a:endParaRPr>
                    </a:p>
                  </a:txBody>
                  <a:tcPr marL="0" marR="0" marT="36830" marB="0">
                    <a:lnL w="6350">
                      <a:solidFill>
                        <a:srgbClr val="A8A8A8"/>
                      </a:solidFill>
                      <a:prstDash val="solid"/>
                    </a:lnL>
                    <a:lnR w="6350">
                      <a:solidFill>
                        <a:srgbClr val="A8A8A8"/>
                      </a:solidFill>
                      <a:prstDash val="solid"/>
                    </a:lnR>
                    <a:lnT w="6350">
                      <a:solidFill>
                        <a:srgbClr val="A8A8A8"/>
                      </a:solidFill>
                      <a:prstDash val="solid"/>
                    </a:lnT>
                    <a:lnB w="6350">
                      <a:solidFill>
                        <a:srgbClr val="A8A8A8"/>
                      </a:solidFill>
                      <a:prstDash val="soli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500" spc="-10" dirty="0">
                          <a:solidFill>
                            <a:srgbClr val="1A1A1A"/>
                          </a:solidFill>
                          <a:latin typeface="Arial Black" panose="020B0A04020102020204"/>
                          <a:cs typeface="Arial Black" panose="020B0A04020102020204"/>
                        </a:rPr>
                        <a:t>Optimal</a:t>
                      </a:r>
                      <a:endParaRPr sz="1500">
                        <a:latin typeface="Arial Black" panose="020B0A04020102020204"/>
                        <a:cs typeface="Arial Black" panose="020B0A04020102020204"/>
                      </a:endParaRPr>
                    </a:p>
                  </a:txBody>
                  <a:tcPr marL="0" marR="0" marT="36830" marB="0">
                    <a:lnL w="6350">
                      <a:solidFill>
                        <a:srgbClr val="A8A8A8"/>
                      </a:solidFill>
                      <a:prstDash val="solid"/>
                    </a:lnL>
                    <a:lnR w="6350">
                      <a:solidFill>
                        <a:srgbClr val="A8A8A8"/>
                      </a:solidFill>
                      <a:prstDash val="solid"/>
                    </a:lnR>
                    <a:lnT w="6350">
                      <a:solidFill>
                        <a:srgbClr val="A8A8A8"/>
                      </a:solidFill>
                      <a:prstDash val="solid"/>
                    </a:lnT>
                    <a:lnB w="6350">
                      <a:solidFill>
                        <a:srgbClr val="A8A8A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500" spc="-25" dirty="0">
                          <a:solidFill>
                            <a:srgbClr val="1A1A1A"/>
                          </a:solidFill>
                          <a:latin typeface="Lucida Sans Unicode" panose="020B0602030504020204"/>
                          <a:cs typeface="Lucida Sans Unicode" panose="020B0602030504020204"/>
                        </a:rPr>
                        <a:t>Yes</a:t>
                      </a:r>
                      <a:endParaRPr sz="1500">
                        <a:latin typeface="Lucida Sans Unicode" panose="020B0602030504020204"/>
                        <a:cs typeface="Lucida Sans Unicode" panose="020B0602030504020204"/>
                      </a:endParaRPr>
                    </a:p>
                  </a:txBody>
                  <a:tcPr marL="0" marR="0" marT="36830" marB="0">
                    <a:lnL w="6350">
                      <a:solidFill>
                        <a:srgbClr val="A8A8A8"/>
                      </a:solidFill>
                      <a:prstDash val="solid"/>
                    </a:lnL>
                    <a:lnR w="6350">
                      <a:solidFill>
                        <a:srgbClr val="A8A8A8"/>
                      </a:solidFill>
                      <a:prstDash val="solid"/>
                    </a:lnR>
                    <a:lnT w="6350">
                      <a:solidFill>
                        <a:srgbClr val="A8A8A8"/>
                      </a:solidFill>
                      <a:prstDash val="solid"/>
                    </a:lnT>
                    <a:lnB w="6350">
                      <a:solidFill>
                        <a:srgbClr val="A8A8A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500" spc="-25" dirty="0">
                          <a:solidFill>
                            <a:srgbClr val="1A1A1A"/>
                          </a:solidFill>
                          <a:latin typeface="Lucida Sans Unicode" panose="020B0602030504020204"/>
                          <a:cs typeface="Lucida Sans Unicode" panose="020B0602030504020204"/>
                        </a:rPr>
                        <a:t>No</a:t>
                      </a:r>
                      <a:endParaRPr sz="1500">
                        <a:latin typeface="Lucida Sans Unicode" panose="020B0602030504020204"/>
                        <a:cs typeface="Lucida Sans Unicode" panose="020B0602030504020204"/>
                      </a:endParaRPr>
                    </a:p>
                  </a:txBody>
                  <a:tcPr marL="0" marR="0" marT="36830" marB="0">
                    <a:lnL w="6350">
                      <a:solidFill>
                        <a:srgbClr val="A8A8A8"/>
                      </a:solidFill>
                      <a:prstDash val="solid"/>
                    </a:lnL>
                    <a:lnR w="6350">
                      <a:solidFill>
                        <a:srgbClr val="A8A8A8"/>
                      </a:solidFill>
                      <a:prstDash val="solid"/>
                    </a:lnR>
                    <a:lnT w="6350">
                      <a:solidFill>
                        <a:srgbClr val="A8A8A8"/>
                      </a:solidFill>
                      <a:prstDash val="solid"/>
                    </a:lnT>
                    <a:lnB w="6350">
                      <a:solidFill>
                        <a:srgbClr val="A8A8A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500" spc="-25" dirty="0">
                          <a:solidFill>
                            <a:srgbClr val="1A1A1A"/>
                          </a:solidFill>
                          <a:latin typeface="Lucida Sans Unicode" panose="020B0602030504020204"/>
                          <a:cs typeface="Lucida Sans Unicode" panose="020B0602030504020204"/>
                        </a:rPr>
                        <a:t>Yes</a:t>
                      </a:r>
                      <a:endParaRPr sz="1500">
                        <a:latin typeface="Lucida Sans Unicode" panose="020B0602030504020204"/>
                        <a:cs typeface="Lucida Sans Unicode" panose="020B0602030504020204"/>
                      </a:endParaRPr>
                    </a:p>
                  </a:txBody>
                  <a:tcPr marL="0" marR="0" marT="36830" marB="0">
                    <a:lnL w="6350">
                      <a:solidFill>
                        <a:srgbClr val="A8A8A8"/>
                      </a:solidFill>
                      <a:prstDash val="solid"/>
                    </a:lnL>
                    <a:lnR w="6350">
                      <a:solidFill>
                        <a:srgbClr val="A8A8A8"/>
                      </a:solidFill>
                      <a:prstDash val="solid"/>
                    </a:lnR>
                    <a:lnT w="6350">
                      <a:solidFill>
                        <a:srgbClr val="A8A8A8"/>
                      </a:solidFill>
                      <a:prstDash val="solid"/>
                    </a:lnT>
                    <a:lnB w="6350">
                      <a:solidFill>
                        <a:srgbClr val="A8A8A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500" spc="-25" dirty="0">
                          <a:solidFill>
                            <a:srgbClr val="1A1A1A"/>
                          </a:solidFill>
                          <a:latin typeface="Lucida Sans Unicode" panose="020B0602030504020204"/>
                          <a:cs typeface="Lucida Sans Unicode" panose="020B0602030504020204"/>
                        </a:rPr>
                        <a:t>Yes</a:t>
                      </a:r>
                      <a:endParaRPr sz="1500">
                        <a:latin typeface="Lucida Sans Unicode" panose="020B0602030504020204"/>
                        <a:cs typeface="Lucida Sans Unicode" panose="020B0602030504020204"/>
                      </a:endParaRPr>
                    </a:p>
                  </a:txBody>
                  <a:tcPr marL="0" marR="0" marT="36830" marB="0">
                    <a:lnL w="6350">
                      <a:solidFill>
                        <a:srgbClr val="A8A8A8"/>
                      </a:solidFill>
                      <a:prstDash val="solid"/>
                    </a:lnL>
                    <a:lnR w="6350">
                      <a:solidFill>
                        <a:srgbClr val="A8A8A8"/>
                      </a:solidFill>
                      <a:prstDash val="solid"/>
                    </a:lnR>
                    <a:lnT w="6350">
                      <a:solidFill>
                        <a:srgbClr val="A8A8A8"/>
                      </a:solidFill>
                      <a:prstDash val="solid"/>
                    </a:lnT>
                    <a:lnB w="6350">
                      <a:solidFill>
                        <a:srgbClr val="A8A8A8"/>
                      </a:solidFill>
                      <a:prstDash val="solid"/>
                    </a:lnB>
                  </a:tcPr>
                </a:tc>
              </a:tr>
              <a:tr h="600075">
                <a:tc>
                  <a:txBody>
                    <a:bodyPr/>
                    <a:lstStyle/>
                    <a:p>
                      <a:pPr marL="165100" marR="158115" indent="309245">
                        <a:lnSpc>
                          <a:spcPts val="2110"/>
                        </a:lnSpc>
                        <a:spcBef>
                          <a:spcPts val="100"/>
                        </a:spcBef>
                      </a:pPr>
                      <a:r>
                        <a:rPr sz="1500" spc="-20" dirty="0">
                          <a:solidFill>
                            <a:srgbClr val="1A1A1A"/>
                          </a:solidFill>
                          <a:latin typeface="Arial Black" panose="020B0A04020102020204"/>
                          <a:cs typeface="Arial Black" panose="020B0A04020102020204"/>
                        </a:rPr>
                        <a:t>Time </a:t>
                      </a:r>
                      <a:r>
                        <a:rPr sz="1500" spc="-70" dirty="0">
                          <a:solidFill>
                            <a:srgbClr val="1A1A1A"/>
                          </a:solidFill>
                          <a:latin typeface="Arial Black" panose="020B0A04020102020204"/>
                          <a:cs typeface="Arial Black" panose="020B0A04020102020204"/>
                        </a:rPr>
                        <a:t>Complexity</a:t>
                      </a:r>
                      <a:endParaRPr sz="1500">
                        <a:latin typeface="Arial Black" panose="020B0A04020102020204"/>
                        <a:cs typeface="Arial Black" panose="020B0A04020102020204"/>
                      </a:endParaRPr>
                    </a:p>
                  </a:txBody>
                  <a:tcPr marL="0" marR="0" marT="12700" marB="0">
                    <a:lnL w="6350">
                      <a:solidFill>
                        <a:srgbClr val="A8A8A8"/>
                      </a:solidFill>
                      <a:prstDash val="solid"/>
                    </a:lnL>
                    <a:lnR w="6350">
                      <a:solidFill>
                        <a:srgbClr val="A8A8A8"/>
                      </a:solidFill>
                      <a:prstDash val="solid"/>
                    </a:lnR>
                    <a:lnT w="6350">
                      <a:solidFill>
                        <a:srgbClr val="A8A8A8"/>
                      </a:solidFill>
                      <a:prstDash val="solid"/>
                    </a:lnT>
                    <a:lnB w="6350">
                      <a:solidFill>
                        <a:srgbClr val="A8A8A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500" spc="-20" dirty="0">
                          <a:solidFill>
                            <a:srgbClr val="1A1A1A"/>
                          </a:solidFill>
                          <a:latin typeface="Lucida Sans Unicode" panose="020B0602030504020204"/>
                          <a:cs typeface="Lucida Sans Unicode" panose="020B0602030504020204"/>
                        </a:rPr>
                        <a:t>Slow</a:t>
                      </a:r>
                      <a:endParaRPr sz="1500" spc="-20" dirty="0">
                        <a:solidFill>
                          <a:srgbClr val="1A1A1A"/>
                        </a:solidFill>
                        <a:latin typeface="Lucida Sans Unicode" panose="020B0602030504020204"/>
                        <a:cs typeface="Lucida Sans Unicode" panose="020B0602030504020204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lang="en-US" sz="1500">
                          <a:latin typeface="Lucida Sans Unicode" panose="020B0602030504020204"/>
                          <a:cs typeface="Lucida Sans Unicode" panose="020B0602030504020204"/>
                          <a:sym typeface="+mn-ea"/>
                        </a:rPr>
                        <a:t>(</a:t>
                      </a:r>
                      <a:r>
                        <a:rPr lang="en-US" altLang="en-GB" sz="1500">
                          <a:latin typeface="Lucida Sans Unicode" panose="020B0602030504020204"/>
                          <a:cs typeface="Lucida Sans Unicode" panose="020B0602030504020204"/>
                          <a:sym typeface="+mn-ea"/>
                        </a:rPr>
                        <a:t>1.50 ms to 3.00 ms</a:t>
                      </a:r>
                      <a:r>
                        <a:rPr lang="en-US" sz="1500">
                          <a:latin typeface="Lucida Sans Unicode" panose="020B0602030504020204"/>
                          <a:cs typeface="Lucida Sans Unicode" panose="020B0602030504020204"/>
                          <a:sym typeface="+mn-ea"/>
                        </a:rPr>
                        <a:t>)</a:t>
                      </a:r>
                      <a:endParaRPr lang="en-US" sz="1500">
                        <a:latin typeface="Lucida Sans Unicode" panose="020B0602030504020204"/>
                        <a:cs typeface="Lucida Sans Unicode" panose="020B0602030504020204"/>
                      </a:endParaRPr>
                    </a:p>
                  </a:txBody>
                  <a:tcPr marL="0" marR="0" marT="36830" marB="0">
                    <a:lnL w="6350">
                      <a:solidFill>
                        <a:srgbClr val="A8A8A8"/>
                      </a:solidFill>
                      <a:prstDash val="solid"/>
                    </a:lnL>
                    <a:lnR w="6350">
                      <a:solidFill>
                        <a:srgbClr val="A8A8A8"/>
                      </a:solidFill>
                      <a:prstDash val="solid"/>
                    </a:lnR>
                    <a:lnT w="6350">
                      <a:solidFill>
                        <a:srgbClr val="A8A8A8"/>
                      </a:solidFill>
                      <a:prstDash val="solid"/>
                    </a:lnT>
                    <a:lnB w="6350">
                      <a:solidFill>
                        <a:srgbClr val="A8A8A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500" spc="-10" dirty="0">
                          <a:solidFill>
                            <a:srgbClr val="1A1A1A"/>
                          </a:solidFill>
                          <a:latin typeface="Lucida Sans Unicode" panose="020B0602030504020204"/>
                          <a:cs typeface="Lucida Sans Unicode" panose="020B0602030504020204"/>
                        </a:rPr>
                        <a:t>Fastest</a:t>
                      </a:r>
                      <a:endParaRPr sz="1500" spc="-10" dirty="0">
                        <a:solidFill>
                          <a:srgbClr val="1A1A1A"/>
                        </a:solidFill>
                        <a:latin typeface="Lucida Sans Unicode" panose="020B0602030504020204"/>
                        <a:cs typeface="Lucida Sans Unicode" panose="020B0602030504020204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lang="en-US" altLang="en-GB" sz="1500">
                          <a:latin typeface="Lucida Sans Unicode" panose="020B0602030504020204"/>
                          <a:cs typeface="Lucida Sans Unicode" panose="020B0602030504020204"/>
                        </a:rPr>
                        <a:t>(0.05 ms to 0.80)</a:t>
                      </a:r>
                      <a:endParaRPr lang="en-US" altLang="en-GB" sz="1500">
                        <a:latin typeface="Lucida Sans Unicode" panose="020B0602030504020204"/>
                        <a:cs typeface="Lucida Sans Unicode" panose="020B0602030504020204"/>
                      </a:endParaRPr>
                    </a:p>
                  </a:txBody>
                  <a:tcPr marL="0" marR="0" marT="36830" marB="0">
                    <a:lnL w="6350">
                      <a:solidFill>
                        <a:srgbClr val="A8A8A8"/>
                      </a:solidFill>
                      <a:prstDash val="solid"/>
                    </a:lnL>
                    <a:lnR w="6350">
                      <a:solidFill>
                        <a:srgbClr val="A8A8A8"/>
                      </a:solidFill>
                      <a:prstDash val="solid"/>
                    </a:lnR>
                    <a:lnT w="6350">
                      <a:solidFill>
                        <a:srgbClr val="A8A8A8"/>
                      </a:solidFill>
                      <a:prstDash val="solid"/>
                    </a:lnT>
                    <a:lnB w="6350">
                      <a:solidFill>
                        <a:srgbClr val="A8A8A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500" spc="-10" dirty="0">
                          <a:solidFill>
                            <a:srgbClr val="1A1A1A"/>
                          </a:solidFill>
                          <a:latin typeface="Lucida Sans Unicode" panose="020B0602030504020204"/>
                          <a:cs typeface="Lucida Sans Unicode" panose="020B0602030504020204"/>
                        </a:rPr>
                        <a:t>Slowest</a:t>
                      </a:r>
                      <a:endParaRPr sz="1500" spc="-10" dirty="0">
                        <a:solidFill>
                          <a:srgbClr val="1A1A1A"/>
                        </a:solidFill>
                        <a:latin typeface="Lucida Sans Unicode" panose="020B0602030504020204"/>
                        <a:cs typeface="Lucida Sans Unicode" panose="020B0602030504020204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lang="en-US" sz="1500">
                          <a:latin typeface="Lucida Sans Unicode" panose="020B0602030504020204"/>
                          <a:cs typeface="Lucida Sans Unicode" panose="020B0602030504020204"/>
                        </a:rPr>
                        <a:t>(</a:t>
                      </a:r>
                      <a:r>
                        <a:rPr lang="en-US" altLang="en-GB" sz="1500">
                          <a:latin typeface="Lucida Sans Unicode" panose="020B0602030504020204"/>
                          <a:cs typeface="Lucida Sans Unicode" panose="020B0602030504020204"/>
                        </a:rPr>
                        <a:t>2.00 ms to 5.00 ms)</a:t>
                      </a:r>
                      <a:endParaRPr lang="en-US" altLang="en-GB" sz="1500">
                        <a:latin typeface="Lucida Sans Unicode" panose="020B0602030504020204"/>
                        <a:cs typeface="Lucida Sans Unicode" panose="020B0602030504020204"/>
                      </a:endParaRPr>
                    </a:p>
                  </a:txBody>
                  <a:tcPr marL="0" marR="0" marT="36830" marB="0">
                    <a:lnL w="6350">
                      <a:solidFill>
                        <a:srgbClr val="A8A8A8"/>
                      </a:solidFill>
                      <a:prstDash val="solid"/>
                    </a:lnL>
                    <a:lnR w="6350">
                      <a:solidFill>
                        <a:srgbClr val="A8A8A8"/>
                      </a:solidFill>
                      <a:prstDash val="solid"/>
                    </a:lnR>
                    <a:lnT w="6350">
                      <a:solidFill>
                        <a:srgbClr val="A8A8A8"/>
                      </a:solidFill>
                      <a:prstDash val="solid"/>
                    </a:lnT>
                    <a:lnB w="6350">
                      <a:solidFill>
                        <a:srgbClr val="A8A8A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500" spc="-10" dirty="0">
                          <a:solidFill>
                            <a:srgbClr val="1A1A1A"/>
                          </a:solidFill>
                          <a:latin typeface="Lucida Sans Unicode" panose="020B0602030504020204"/>
                          <a:cs typeface="Lucida Sans Unicode" panose="020B0602030504020204"/>
                        </a:rPr>
                        <a:t>Efficient</a:t>
                      </a:r>
                      <a:endParaRPr sz="1500" spc="-10" dirty="0">
                        <a:solidFill>
                          <a:srgbClr val="1A1A1A"/>
                        </a:solidFill>
                        <a:latin typeface="Lucida Sans Unicode" panose="020B0602030504020204"/>
                        <a:cs typeface="Lucida Sans Unicode" panose="020B0602030504020204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lang="en-US" sz="1500">
                          <a:latin typeface="Lucida Sans Unicode" panose="020B0602030504020204"/>
                          <a:cs typeface="Lucida Sans Unicode" panose="020B0602030504020204"/>
                        </a:rPr>
                        <a:t>(</a:t>
                      </a:r>
                      <a:r>
                        <a:rPr lang="en-US" altLang="en-GB" sz="1500">
                          <a:latin typeface="Lucida Sans Unicode" panose="020B0602030504020204"/>
                          <a:cs typeface="Lucida Sans Unicode" panose="020B0602030504020204"/>
                        </a:rPr>
                        <a:t>0.10 ms to 1.50 ms)</a:t>
                      </a:r>
                      <a:endParaRPr lang="en-US" altLang="en-GB" sz="1500">
                        <a:latin typeface="Lucida Sans Unicode" panose="020B0602030504020204"/>
                        <a:cs typeface="Lucida Sans Unicode" panose="020B0602030504020204"/>
                      </a:endParaRPr>
                    </a:p>
                  </a:txBody>
                  <a:tcPr marL="0" marR="0" marT="36830" marB="0">
                    <a:lnL w="6350">
                      <a:solidFill>
                        <a:srgbClr val="A8A8A8"/>
                      </a:solidFill>
                      <a:prstDash val="solid"/>
                    </a:lnL>
                    <a:lnR w="6350">
                      <a:solidFill>
                        <a:srgbClr val="A8A8A8"/>
                      </a:solidFill>
                      <a:prstDash val="solid"/>
                    </a:lnR>
                    <a:lnT w="6350">
                      <a:solidFill>
                        <a:srgbClr val="A8A8A8"/>
                      </a:solidFill>
                      <a:prstDash val="solid"/>
                    </a:lnT>
                    <a:lnB w="6350">
                      <a:solidFill>
                        <a:srgbClr val="A8A8A8"/>
                      </a:solidFill>
                      <a:prstDash val="solid"/>
                    </a:lnB>
                  </a:tcPr>
                </a:tc>
              </a:tr>
              <a:tr h="600075">
                <a:tc>
                  <a:txBody>
                    <a:bodyPr/>
                    <a:lstStyle/>
                    <a:p>
                      <a:pPr marL="165100" marR="158115" indent="266065">
                        <a:lnSpc>
                          <a:spcPts val="2110"/>
                        </a:lnSpc>
                        <a:spcBef>
                          <a:spcPts val="100"/>
                        </a:spcBef>
                      </a:pPr>
                      <a:r>
                        <a:rPr sz="1500" spc="-10" dirty="0">
                          <a:solidFill>
                            <a:srgbClr val="1A1A1A"/>
                          </a:solidFill>
                          <a:latin typeface="Arial Black" panose="020B0A04020102020204"/>
                          <a:cs typeface="Arial Black" panose="020B0A04020102020204"/>
                        </a:rPr>
                        <a:t>Space </a:t>
                      </a:r>
                      <a:r>
                        <a:rPr sz="1500" spc="-70" dirty="0">
                          <a:solidFill>
                            <a:srgbClr val="1A1A1A"/>
                          </a:solidFill>
                          <a:latin typeface="Arial Black" panose="020B0A04020102020204"/>
                          <a:cs typeface="Arial Black" panose="020B0A04020102020204"/>
                        </a:rPr>
                        <a:t>Complexity</a:t>
                      </a:r>
                      <a:endParaRPr sz="1500">
                        <a:latin typeface="Arial Black" panose="020B0A04020102020204"/>
                        <a:cs typeface="Arial Black" panose="020B0A04020102020204"/>
                      </a:endParaRPr>
                    </a:p>
                  </a:txBody>
                  <a:tcPr marL="0" marR="0" marT="12700" marB="0">
                    <a:lnL w="6350">
                      <a:solidFill>
                        <a:srgbClr val="A8A8A8"/>
                      </a:solidFill>
                      <a:prstDash val="solid"/>
                    </a:lnL>
                    <a:lnR w="6350">
                      <a:solidFill>
                        <a:srgbClr val="A8A8A8"/>
                      </a:solidFill>
                      <a:prstDash val="solid"/>
                    </a:lnR>
                    <a:lnT w="6350">
                      <a:solidFill>
                        <a:srgbClr val="A8A8A8"/>
                      </a:solidFill>
                      <a:prstDash val="solid"/>
                    </a:lnT>
                    <a:lnB w="6350">
                      <a:solidFill>
                        <a:srgbClr val="A8A8A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500" spc="-20" dirty="0">
                          <a:solidFill>
                            <a:srgbClr val="1A1A1A"/>
                          </a:solidFill>
                          <a:latin typeface="Lucida Sans Unicode" panose="020B0602030504020204"/>
                          <a:cs typeface="Lucida Sans Unicode" panose="020B0602030504020204"/>
                        </a:rPr>
                        <a:t>High</a:t>
                      </a:r>
                      <a:endParaRPr sz="1500">
                        <a:latin typeface="Lucida Sans Unicode" panose="020B0602030504020204"/>
                        <a:cs typeface="Lucida Sans Unicode" panose="020B0602030504020204"/>
                      </a:endParaRPr>
                    </a:p>
                  </a:txBody>
                  <a:tcPr marL="0" marR="0" marT="36830" marB="0">
                    <a:lnL w="6350">
                      <a:solidFill>
                        <a:srgbClr val="A8A8A8"/>
                      </a:solidFill>
                      <a:prstDash val="solid"/>
                    </a:lnL>
                    <a:lnR w="6350">
                      <a:solidFill>
                        <a:srgbClr val="A8A8A8"/>
                      </a:solidFill>
                      <a:prstDash val="solid"/>
                    </a:lnR>
                    <a:lnT w="6350">
                      <a:solidFill>
                        <a:srgbClr val="A8A8A8"/>
                      </a:solidFill>
                      <a:prstDash val="solid"/>
                    </a:lnT>
                    <a:lnB w="6350">
                      <a:solidFill>
                        <a:srgbClr val="A8A8A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500" spc="-10" dirty="0">
                          <a:solidFill>
                            <a:srgbClr val="1A1A1A"/>
                          </a:solidFill>
                          <a:latin typeface="Lucida Sans Unicode" panose="020B0602030504020204"/>
                          <a:cs typeface="Lucida Sans Unicode" panose="020B0602030504020204"/>
                        </a:rPr>
                        <a:t>Medium</a:t>
                      </a:r>
                      <a:endParaRPr sz="1500">
                        <a:latin typeface="Lucida Sans Unicode" panose="020B0602030504020204"/>
                        <a:cs typeface="Lucida Sans Unicode" panose="020B0602030504020204"/>
                      </a:endParaRPr>
                    </a:p>
                  </a:txBody>
                  <a:tcPr marL="0" marR="0" marT="36830" marB="0">
                    <a:lnL w="6350">
                      <a:solidFill>
                        <a:srgbClr val="A8A8A8"/>
                      </a:solidFill>
                      <a:prstDash val="solid"/>
                    </a:lnL>
                    <a:lnR w="6350">
                      <a:solidFill>
                        <a:srgbClr val="A8A8A8"/>
                      </a:solidFill>
                      <a:prstDash val="solid"/>
                    </a:lnR>
                    <a:lnT w="6350">
                      <a:solidFill>
                        <a:srgbClr val="A8A8A8"/>
                      </a:solidFill>
                      <a:prstDash val="solid"/>
                    </a:lnT>
                    <a:lnB w="6350">
                      <a:solidFill>
                        <a:srgbClr val="A8A8A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500" spc="-25" dirty="0">
                          <a:solidFill>
                            <a:srgbClr val="1A1A1A"/>
                          </a:solidFill>
                          <a:latin typeface="Lucida Sans Unicode" panose="020B0602030504020204"/>
                          <a:cs typeface="Lucida Sans Unicode" panose="020B0602030504020204"/>
                        </a:rPr>
                        <a:t>Low</a:t>
                      </a:r>
                      <a:endParaRPr sz="1500">
                        <a:latin typeface="Lucida Sans Unicode" panose="020B0602030504020204"/>
                        <a:cs typeface="Lucida Sans Unicode" panose="020B0602030504020204"/>
                      </a:endParaRPr>
                    </a:p>
                  </a:txBody>
                  <a:tcPr marL="0" marR="0" marT="36830" marB="0">
                    <a:lnL w="6350">
                      <a:solidFill>
                        <a:srgbClr val="A8A8A8"/>
                      </a:solidFill>
                      <a:prstDash val="solid"/>
                    </a:lnL>
                    <a:lnR w="6350">
                      <a:solidFill>
                        <a:srgbClr val="A8A8A8"/>
                      </a:solidFill>
                      <a:prstDash val="solid"/>
                    </a:lnR>
                    <a:lnT w="6350">
                      <a:solidFill>
                        <a:srgbClr val="A8A8A8"/>
                      </a:solidFill>
                      <a:prstDash val="solid"/>
                    </a:lnT>
                    <a:lnB w="6350">
                      <a:solidFill>
                        <a:srgbClr val="A8A8A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500" spc="-10" dirty="0">
                          <a:solidFill>
                            <a:srgbClr val="1A1A1A"/>
                          </a:solidFill>
                          <a:latin typeface="Lucida Sans Unicode" panose="020B0602030504020204"/>
                          <a:cs typeface="Lucida Sans Unicode" panose="020B0602030504020204"/>
                        </a:rPr>
                        <a:t>Medium</a:t>
                      </a:r>
                      <a:endParaRPr sz="1500">
                        <a:latin typeface="Lucida Sans Unicode" panose="020B0602030504020204"/>
                        <a:cs typeface="Lucida Sans Unicode" panose="020B0602030504020204"/>
                      </a:endParaRPr>
                    </a:p>
                  </a:txBody>
                  <a:tcPr marL="0" marR="0" marT="36830" marB="0">
                    <a:lnL w="6350">
                      <a:solidFill>
                        <a:srgbClr val="A8A8A8"/>
                      </a:solidFill>
                      <a:prstDash val="solid"/>
                    </a:lnL>
                    <a:lnR w="6350">
                      <a:solidFill>
                        <a:srgbClr val="A8A8A8"/>
                      </a:solidFill>
                      <a:prstDash val="solid"/>
                    </a:lnR>
                    <a:lnT w="6350">
                      <a:solidFill>
                        <a:srgbClr val="A8A8A8"/>
                      </a:solidFill>
                      <a:prstDash val="solid"/>
                    </a:lnT>
                    <a:lnB w="6350">
                      <a:solidFill>
                        <a:srgbClr val="A8A8A8"/>
                      </a:solidFill>
                      <a:prstDash val="solid"/>
                    </a:lnB>
                  </a:tcPr>
                </a:tc>
              </a:tr>
              <a:tr h="6000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500" spc="-10" dirty="0">
                          <a:solidFill>
                            <a:srgbClr val="1A1A1A"/>
                          </a:solidFill>
                          <a:latin typeface="Arial Black" panose="020B0A04020102020204"/>
                          <a:cs typeface="Arial Black" panose="020B0A04020102020204"/>
                        </a:rPr>
                        <a:t>Steps</a:t>
                      </a:r>
                      <a:endParaRPr sz="1500">
                        <a:latin typeface="Arial Black" panose="020B0A04020102020204"/>
                        <a:cs typeface="Arial Black" panose="020B0A04020102020204"/>
                      </a:endParaRPr>
                    </a:p>
                  </a:txBody>
                  <a:tcPr marL="0" marR="0" marT="36830" marB="0">
                    <a:lnL w="6350">
                      <a:solidFill>
                        <a:srgbClr val="A8A8A8"/>
                      </a:solidFill>
                      <a:prstDash val="solid"/>
                    </a:lnL>
                    <a:lnR w="6350">
                      <a:solidFill>
                        <a:srgbClr val="A8A8A8"/>
                      </a:solidFill>
                      <a:prstDash val="solid"/>
                    </a:lnR>
                    <a:lnT w="6350">
                      <a:solidFill>
                        <a:srgbClr val="A8A8A8"/>
                      </a:solidFill>
                      <a:prstDash val="solid"/>
                    </a:lnT>
                    <a:lnB w="6350">
                      <a:solidFill>
                        <a:srgbClr val="A8A8A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500" spc="-20" dirty="0">
                          <a:solidFill>
                            <a:srgbClr val="1A1A1A"/>
                          </a:solidFill>
                          <a:latin typeface="Lucida Sans Unicode" panose="020B0602030504020204"/>
                          <a:cs typeface="Lucida Sans Unicode" panose="020B0602030504020204"/>
                        </a:rPr>
                        <a:t>High</a:t>
                      </a:r>
                      <a:endParaRPr sz="1500" spc="-20" dirty="0">
                        <a:solidFill>
                          <a:srgbClr val="1A1A1A"/>
                        </a:solidFill>
                        <a:latin typeface="Lucida Sans Unicode" panose="020B0602030504020204"/>
                        <a:cs typeface="Lucida Sans Unicode" panose="020B0602030504020204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lang="en-US" sz="1500">
                          <a:latin typeface="Lucida Sans Unicode" panose="020B0602030504020204"/>
                          <a:cs typeface="Lucida Sans Unicode" panose="020B0602030504020204"/>
                        </a:rPr>
                        <a:t>(17)</a:t>
                      </a:r>
                      <a:endParaRPr lang="en-US" sz="1500">
                        <a:latin typeface="Lucida Sans Unicode" panose="020B0602030504020204"/>
                        <a:cs typeface="Lucida Sans Unicode" panose="020B0602030504020204"/>
                      </a:endParaRPr>
                    </a:p>
                  </a:txBody>
                  <a:tcPr marL="0" marR="0" marT="36830" marB="0">
                    <a:lnL w="6350">
                      <a:solidFill>
                        <a:srgbClr val="A8A8A8"/>
                      </a:solidFill>
                      <a:prstDash val="solid"/>
                    </a:lnL>
                    <a:lnR w="6350">
                      <a:solidFill>
                        <a:srgbClr val="A8A8A8"/>
                      </a:solidFill>
                      <a:prstDash val="solid"/>
                    </a:lnR>
                    <a:lnT w="6350">
                      <a:solidFill>
                        <a:srgbClr val="A8A8A8"/>
                      </a:solidFill>
                      <a:prstDash val="solid"/>
                    </a:lnT>
                    <a:lnB w="6350">
                      <a:solidFill>
                        <a:srgbClr val="A8A8A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500" spc="-10" dirty="0">
                          <a:solidFill>
                            <a:srgbClr val="1A1A1A"/>
                          </a:solidFill>
                          <a:latin typeface="Lucida Sans Unicode" panose="020B0602030504020204"/>
                          <a:cs typeface="Lucida Sans Unicode" panose="020B0602030504020204"/>
                        </a:rPr>
                        <a:t>Highest</a:t>
                      </a:r>
                      <a:endParaRPr sz="1500" spc="-10" dirty="0">
                        <a:solidFill>
                          <a:srgbClr val="1A1A1A"/>
                        </a:solidFill>
                        <a:latin typeface="Lucida Sans Unicode" panose="020B0602030504020204"/>
                        <a:cs typeface="Lucida Sans Unicode" panose="020B0602030504020204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lang="en-US" sz="1500">
                          <a:latin typeface="Lucida Sans Unicode" panose="020B0602030504020204"/>
                          <a:cs typeface="Lucida Sans Unicode" panose="020B0602030504020204"/>
                        </a:rPr>
                        <a:t>(23)</a:t>
                      </a:r>
                      <a:endParaRPr lang="en-US" sz="1500">
                        <a:latin typeface="Lucida Sans Unicode" panose="020B0602030504020204"/>
                        <a:cs typeface="Lucida Sans Unicode" panose="020B0602030504020204"/>
                      </a:endParaRPr>
                    </a:p>
                  </a:txBody>
                  <a:tcPr marL="0" marR="0" marT="36830" marB="0">
                    <a:lnL w="6350">
                      <a:solidFill>
                        <a:srgbClr val="A8A8A8"/>
                      </a:solidFill>
                      <a:prstDash val="solid"/>
                    </a:lnL>
                    <a:lnR w="6350">
                      <a:solidFill>
                        <a:srgbClr val="A8A8A8"/>
                      </a:solidFill>
                      <a:prstDash val="solid"/>
                    </a:lnR>
                    <a:lnT w="6350">
                      <a:solidFill>
                        <a:srgbClr val="A8A8A8"/>
                      </a:solidFill>
                      <a:prstDash val="solid"/>
                    </a:lnT>
                    <a:lnB w="6350">
                      <a:solidFill>
                        <a:srgbClr val="A8A8A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500" spc="-25" dirty="0">
                          <a:solidFill>
                            <a:srgbClr val="1A1A1A"/>
                          </a:solidFill>
                          <a:latin typeface="Lucida Sans Unicode" panose="020B0602030504020204"/>
                          <a:cs typeface="Lucida Sans Unicode" panose="020B0602030504020204"/>
                        </a:rPr>
                        <a:t>Low</a:t>
                      </a:r>
                      <a:endParaRPr sz="1500" spc="-25" dirty="0">
                        <a:solidFill>
                          <a:srgbClr val="1A1A1A"/>
                        </a:solidFill>
                        <a:latin typeface="Lucida Sans Unicode" panose="020B0602030504020204"/>
                        <a:cs typeface="Lucida Sans Unicode" panose="020B0602030504020204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lang="en-US" sz="1500">
                          <a:latin typeface="Lucida Sans Unicode" panose="020B0602030504020204"/>
                          <a:cs typeface="Lucida Sans Unicode" panose="020B0602030504020204"/>
                        </a:rPr>
                        <a:t>(4)</a:t>
                      </a:r>
                      <a:endParaRPr lang="en-US" sz="1500">
                        <a:latin typeface="Lucida Sans Unicode" panose="020B0602030504020204"/>
                        <a:cs typeface="Lucida Sans Unicode" panose="020B0602030504020204"/>
                      </a:endParaRPr>
                    </a:p>
                  </a:txBody>
                  <a:tcPr marL="0" marR="0" marT="36830" marB="0">
                    <a:lnL w="6350">
                      <a:solidFill>
                        <a:srgbClr val="A8A8A8"/>
                      </a:solidFill>
                      <a:prstDash val="solid"/>
                    </a:lnL>
                    <a:lnR w="6350">
                      <a:solidFill>
                        <a:srgbClr val="A8A8A8"/>
                      </a:solidFill>
                      <a:prstDash val="solid"/>
                    </a:lnR>
                    <a:lnT w="6350">
                      <a:solidFill>
                        <a:srgbClr val="A8A8A8"/>
                      </a:solidFill>
                      <a:prstDash val="solid"/>
                    </a:lnT>
                    <a:lnB w="6350">
                      <a:solidFill>
                        <a:srgbClr val="A8A8A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500" spc="-10" dirty="0">
                          <a:solidFill>
                            <a:srgbClr val="1A1A1A"/>
                          </a:solidFill>
                          <a:latin typeface="Lucida Sans Unicode" panose="020B0602030504020204"/>
                          <a:cs typeface="Lucida Sans Unicode" panose="020B0602030504020204"/>
                        </a:rPr>
                        <a:t>Lowest</a:t>
                      </a:r>
                      <a:endParaRPr sz="1500" spc="-10" dirty="0">
                        <a:solidFill>
                          <a:srgbClr val="1A1A1A"/>
                        </a:solidFill>
                        <a:latin typeface="Lucida Sans Unicode" panose="020B0602030504020204"/>
                        <a:cs typeface="Lucida Sans Unicode" panose="020B0602030504020204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lang="en-US" sz="1500">
                          <a:latin typeface="Lucida Sans Unicode" panose="020B0602030504020204"/>
                          <a:cs typeface="Lucida Sans Unicode" panose="020B0602030504020204"/>
                        </a:rPr>
                        <a:t>(3)</a:t>
                      </a:r>
                      <a:endParaRPr lang="en-US" sz="1500">
                        <a:latin typeface="Lucida Sans Unicode" panose="020B0602030504020204"/>
                        <a:cs typeface="Lucida Sans Unicode" panose="020B0602030504020204"/>
                      </a:endParaRPr>
                    </a:p>
                  </a:txBody>
                  <a:tcPr marL="0" marR="0" marT="36830" marB="0">
                    <a:lnL w="6350">
                      <a:solidFill>
                        <a:srgbClr val="A8A8A8"/>
                      </a:solidFill>
                      <a:prstDash val="solid"/>
                    </a:lnL>
                    <a:lnR w="6350">
                      <a:solidFill>
                        <a:srgbClr val="A8A8A8"/>
                      </a:solidFill>
                      <a:prstDash val="solid"/>
                    </a:lnR>
                    <a:lnT w="6350">
                      <a:solidFill>
                        <a:srgbClr val="A8A8A8"/>
                      </a:solidFill>
                      <a:prstDash val="solid"/>
                    </a:lnT>
                    <a:lnB w="6350">
                      <a:solidFill>
                        <a:srgbClr val="A8A8A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25741" y="135232"/>
            <a:ext cx="2815590" cy="4603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50" i="1" spc="-85" dirty="0">
                <a:latin typeface="Trebuchet MS" panose="020B0603020202020204"/>
                <a:cs typeface="Trebuchet MS" panose="020B0603020202020204"/>
              </a:rPr>
              <a:t>Wh</a:t>
            </a:r>
            <a:r>
              <a:rPr sz="2650" i="1" spc="-85" dirty="0">
                <a:latin typeface="Constantia" panose="02030602050306030303"/>
                <a:cs typeface="Constantia" panose="02030602050306030303"/>
              </a:rPr>
              <a:t>y</a:t>
            </a:r>
            <a:r>
              <a:rPr sz="2650" i="1" spc="-180" dirty="0">
                <a:latin typeface="Constantia" panose="02030602050306030303"/>
                <a:cs typeface="Constantia" panose="02030602050306030303"/>
              </a:rPr>
              <a:t> </a:t>
            </a:r>
            <a:r>
              <a:rPr sz="2850" i="1" dirty="0">
                <a:latin typeface="Trebuchet MS" panose="020B0603020202020204"/>
                <a:cs typeface="Trebuchet MS" panose="020B0603020202020204"/>
              </a:rPr>
              <a:t>A</a:t>
            </a:r>
            <a:r>
              <a:rPr sz="2850" i="1" spc="-440" dirty="0">
                <a:latin typeface="Trebuchet MS" panose="020B0603020202020204"/>
                <a:cs typeface="Trebuchet MS" panose="020B0603020202020204"/>
              </a:rPr>
              <a:t> </a:t>
            </a:r>
            <a:r>
              <a:rPr i="1" spc="-55" dirty="0">
                <a:latin typeface="Palatino Linotype" panose="02040502050505030304"/>
                <a:cs typeface="Palatino Linotype" panose="02040502050505030304"/>
              </a:rPr>
              <a:t>*</a:t>
            </a:r>
            <a:r>
              <a:rPr i="1" spc="-190" dirty="0"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2850" i="1" spc="-200" dirty="0">
                <a:latin typeface="Trebuchet MS" panose="020B0603020202020204"/>
                <a:cs typeface="Trebuchet MS" panose="020B0603020202020204"/>
              </a:rPr>
              <a:t>is</a:t>
            </a:r>
            <a:r>
              <a:rPr sz="2850" i="1" spc="-340" dirty="0">
                <a:latin typeface="Trebuchet MS" panose="020B0603020202020204"/>
                <a:cs typeface="Trebuchet MS" panose="020B0603020202020204"/>
              </a:rPr>
              <a:t> </a:t>
            </a:r>
            <a:r>
              <a:rPr sz="2650" i="1" spc="-90" dirty="0">
                <a:latin typeface="Constantia" panose="02030602050306030303"/>
                <a:cs typeface="Constantia" panose="02030602050306030303"/>
              </a:rPr>
              <a:t>t</a:t>
            </a:r>
            <a:r>
              <a:rPr sz="2850" i="1" spc="-90" dirty="0">
                <a:latin typeface="Trebuchet MS" panose="020B0603020202020204"/>
                <a:cs typeface="Trebuchet MS" panose="020B0603020202020204"/>
              </a:rPr>
              <a:t>he</a:t>
            </a:r>
            <a:r>
              <a:rPr sz="2850" i="1" spc="-295" dirty="0">
                <a:latin typeface="Trebuchet MS" panose="020B0603020202020204"/>
                <a:cs typeface="Trebuchet MS" panose="020B0603020202020204"/>
              </a:rPr>
              <a:t> </a:t>
            </a:r>
            <a:r>
              <a:rPr sz="2850" i="1" spc="-60" dirty="0">
                <a:latin typeface="Trebuchet MS" panose="020B0603020202020204"/>
                <a:cs typeface="Trebuchet MS" panose="020B0603020202020204"/>
              </a:rPr>
              <a:t>Bes</a:t>
            </a:r>
            <a:r>
              <a:rPr sz="2650" i="1" spc="-60" dirty="0">
                <a:latin typeface="Constantia" panose="02030602050306030303"/>
                <a:cs typeface="Constantia" panose="02030602050306030303"/>
              </a:rPr>
              <a:t>t</a:t>
            </a:r>
            <a:endParaRPr sz="2650">
              <a:latin typeface="Constantia" panose="02030602050306030303"/>
              <a:cs typeface="Constantia" panose="02030602050306030303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88900">
              <a:lnSpc>
                <a:spcPct val="119000"/>
              </a:lnSpc>
              <a:spcBef>
                <a:spcPts val="100"/>
              </a:spcBef>
            </a:pPr>
            <a:r>
              <a:rPr spc="-65" dirty="0">
                <a:latin typeface="Arial Black" panose="020B0A04020102020204"/>
                <a:cs typeface="Arial Black" panose="020B0A04020102020204"/>
              </a:rPr>
              <a:t>Maximum</a:t>
            </a:r>
            <a:r>
              <a:rPr spc="-100" dirty="0">
                <a:latin typeface="Arial Black" panose="020B0A04020102020204"/>
                <a:cs typeface="Arial Black" panose="020B0A04020102020204"/>
              </a:rPr>
              <a:t> </a:t>
            </a:r>
            <a:r>
              <a:rPr spc="-110" dirty="0">
                <a:latin typeface="Arial Black" panose="020B0A04020102020204"/>
                <a:cs typeface="Arial Black" panose="020B0A04020102020204"/>
              </a:rPr>
              <a:t>Efficiency</a:t>
            </a:r>
            <a:r>
              <a:rPr spc="-110" dirty="0"/>
              <a:t>:</a:t>
            </a:r>
            <a:r>
              <a:rPr spc="-75" dirty="0"/>
              <a:t> </a:t>
            </a:r>
            <a:r>
              <a:rPr dirty="0"/>
              <a:t>It</a:t>
            </a:r>
            <a:r>
              <a:rPr spc="-75" dirty="0"/>
              <a:t> </a:t>
            </a:r>
            <a:r>
              <a:rPr spc="-25" dirty="0"/>
              <a:t>achieved</a:t>
            </a:r>
            <a:r>
              <a:rPr spc="-75" dirty="0"/>
              <a:t> </a:t>
            </a:r>
            <a:r>
              <a:rPr dirty="0"/>
              <a:t>the</a:t>
            </a:r>
            <a:r>
              <a:rPr spc="-70" dirty="0"/>
              <a:t> </a:t>
            </a:r>
            <a:r>
              <a:rPr spc="-20" dirty="0"/>
              <a:t>goal</a:t>
            </a:r>
            <a:r>
              <a:rPr spc="-75" dirty="0"/>
              <a:t> </a:t>
            </a:r>
            <a:r>
              <a:rPr spc="-30" dirty="0"/>
              <a:t>in</a:t>
            </a:r>
            <a:r>
              <a:rPr spc="-75" dirty="0"/>
              <a:t> </a:t>
            </a:r>
            <a:r>
              <a:rPr dirty="0"/>
              <a:t>the</a:t>
            </a:r>
            <a:r>
              <a:rPr spc="-75" dirty="0"/>
              <a:t> </a:t>
            </a:r>
            <a:r>
              <a:rPr spc="-20" dirty="0"/>
              <a:t>fewest</a:t>
            </a:r>
            <a:r>
              <a:rPr spc="-75" dirty="0"/>
              <a:t> </a:t>
            </a:r>
            <a:r>
              <a:rPr spc="-30" dirty="0"/>
              <a:t>steps</a:t>
            </a:r>
            <a:r>
              <a:rPr spc="-70" dirty="0"/>
              <a:t> </a:t>
            </a:r>
            <a:r>
              <a:rPr spc="-90" dirty="0"/>
              <a:t>(</a:t>
            </a:r>
            <a:r>
              <a:rPr spc="-90" dirty="0">
                <a:latin typeface="Arial Black" panose="020B0A04020102020204"/>
                <a:cs typeface="Arial Black" panose="020B0A04020102020204"/>
              </a:rPr>
              <a:t>2</a:t>
            </a:r>
            <a:r>
              <a:rPr spc="-95" dirty="0">
                <a:latin typeface="Arial Black" panose="020B0A04020102020204"/>
                <a:cs typeface="Arial Black" panose="020B0A04020102020204"/>
              </a:rPr>
              <a:t> </a:t>
            </a:r>
            <a:r>
              <a:rPr spc="-10" dirty="0">
                <a:latin typeface="Arial Black" panose="020B0A04020102020204"/>
                <a:cs typeface="Arial Black" panose="020B0A04020102020204"/>
              </a:rPr>
              <a:t>steps</a:t>
            </a:r>
            <a:r>
              <a:rPr spc="-10" dirty="0"/>
              <a:t>). </a:t>
            </a:r>
            <a:r>
              <a:rPr spc="-90" dirty="0">
                <a:latin typeface="Arial Black" panose="020B0A04020102020204"/>
                <a:cs typeface="Arial Black" panose="020B0A04020102020204"/>
              </a:rPr>
              <a:t>Heuristic</a:t>
            </a:r>
            <a:r>
              <a:rPr spc="-85" dirty="0">
                <a:latin typeface="Arial Black" panose="020B0A04020102020204"/>
                <a:cs typeface="Arial Black" panose="020B0A04020102020204"/>
              </a:rPr>
              <a:t> </a:t>
            </a:r>
            <a:r>
              <a:rPr spc="-80" dirty="0">
                <a:latin typeface="Arial Black" panose="020B0A04020102020204"/>
                <a:cs typeface="Arial Black" panose="020B0A04020102020204"/>
              </a:rPr>
              <a:t>Intelligence</a:t>
            </a:r>
            <a:r>
              <a:rPr spc="-80" dirty="0"/>
              <a:t>:</a:t>
            </a:r>
            <a:r>
              <a:rPr spc="-55" dirty="0"/>
              <a:t> </a:t>
            </a:r>
            <a:r>
              <a:rPr spc="-25" dirty="0"/>
              <a:t>Unlike</a:t>
            </a:r>
            <a:r>
              <a:rPr spc="-60" dirty="0"/>
              <a:t> </a:t>
            </a:r>
            <a:r>
              <a:rPr spc="-10" dirty="0"/>
              <a:t>"blind"</a:t>
            </a:r>
            <a:r>
              <a:rPr spc="-55" dirty="0"/>
              <a:t> </a:t>
            </a:r>
            <a:r>
              <a:rPr spc="-25" dirty="0"/>
              <a:t>searches</a:t>
            </a:r>
            <a:r>
              <a:rPr spc="-55" dirty="0"/>
              <a:t> </a:t>
            </a:r>
            <a:r>
              <a:rPr spc="-30" dirty="0"/>
              <a:t>(BFS/IDS),</a:t>
            </a:r>
            <a:r>
              <a:rPr spc="-60" dirty="0"/>
              <a:t> </a:t>
            </a:r>
            <a:r>
              <a:rPr dirty="0"/>
              <a:t>A*</a:t>
            </a:r>
            <a:r>
              <a:rPr spc="-55" dirty="0"/>
              <a:t> </a:t>
            </a:r>
            <a:r>
              <a:rPr spc="-25" dirty="0"/>
              <a:t>uses</a:t>
            </a:r>
            <a:r>
              <a:rPr spc="-60" dirty="0"/>
              <a:t> </a:t>
            </a:r>
            <a:r>
              <a:rPr spc="-25" dirty="0"/>
              <a:t>the </a:t>
            </a:r>
            <a:r>
              <a:rPr spc="-55" dirty="0">
                <a:latin typeface="Arial Black" panose="020B0A04020102020204"/>
                <a:cs typeface="Arial Black" panose="020B0A04020102020204"/>
              </a:rPr>
              <a:t>Manhattan</a:t>
            </a:r>
            <a:r>
              <a:rPr spc="-105" dirty="0">
                <a:latin typeface="Arial Black" panose="020B0A04020102020204"/>
                <a:cs typeface="Arial Black" panose="020B0A04020102020204"/>
              </a:rPr>
              <a:t> Distance </a:t>
            </a:r>
            <a:r>
              <a:rPr spc="-20" dirty="0"/>
              <a:t>to</a:t>
            </a:r>
            <a:r>
              <a:rPr spc="-75" dirty="0"/>
              <a:t> </a:t>
            </a:r>
            <a:r>
              <a:rPr spc="-20" dirty="0"/>
              <a:t>estimate</a:t>
            </a:r>
            <a:r>
              <a:rPr spc="-80" dirty="0"/>
              <a:t> </a:t>
            </a:r>
            <a:r>
              <a:rPr dirty="0"/>
              <a:t>the</a:t>
            </a:r>
            <a:r>
              <a:rPr spc="-75" dirty="0"/>
              <a:t> </a:t>
            </a:r>
            <a:r>
              <a:rPr spc="-25" dirty="0"/>
              <a:t>distance</a:t>
            </a:r>
            <a:r>
              <a:rPr spc="-80" dirty="0"/>
              <a:t> </a:t>
            </a:r>
            <a:r>
              <a:rPr spc="-20" dirty="0"/>
              <a:t>to</a:t>
            </a:r>
            <a:r>
              <a:rPr spc="-75" dirty="0"/>
              <a:t> </a:t>
            </a:r>
            <a:r>
              <a:rPr dirty="0"/>
              <a:t>the</a:t>
            </a:r>
            <a:r>
              <a:rPr spc="-80" dirty="0"/>
              <a:t> </a:t>
            </a:r>
            <a:r>
              <a:rPr spc="-35" dirty="0"/>
              <a:t>goal,</a:t>
            </a:r>
            <a:r>
              <a:rPr spc="-75" dirty="0"/>
              <a:t> </a:t>
            </a:r>
            <a:r>
              <a:rPr spc="-30" dirty="0"/>
              <a:t>allowing</a:t>
            </a:r>
            <a:r>
              <a:rPr spc="-80" dirty="0"/>
              <a:t> </a:t>
            </a:r>
            <a:r>
              <a:rPr spc="-40" dirty="0"/>
              <a:t>it</a:t>
            </a:r>
            <a:r>
              <a:rPr spc="-75" dirty="0"/>
              <a:t> </a:t>
            </a:r>
            <a:r>
              <a:rPr spc="-20" dirty="0"/>
              <a:t>to</a:t>
            </a:r>
            <a:r>
              <a:rPr spc="-80" dirty="0"/>
              <a:t> </a:t>
            </a:r>
            <a:r>
              <a:rPr spc="-10" dirty="0"/>
              <a:t>ignore </a:t>
            </a:r>
            <a:r>
              <a:rPr spc="-25" dirty="0"/>
              <a:t>irrelevant </a:t>
            </a:r>
            <a:r>
              <a:rPr spc="-10" dirty="0"/>
              <a:t>paths.</a:t>
            </a:r>
            <a:endParaRPr spc="-10" dirty="0"/>
          </a:p>
          <a:p>
            <a:pPr marL="12700">
              <a:lnSpc>
                <a:spcPct val="100000"/>
              </a:lnSpc>
              <a:spcBef>
                <a:spcPts val="340"/>
              </a:spcBef>
            </a:pPr>
            <a:r>
              <a:rPr spc="-85" dirty="0">
                <a:latin typeface="Arial Black" panose="020B0A04020102020204"/>
                <a:cs typeface="Arial Black" panose="020B0A04020102020204"/>
              </a:rPr>
              <a:t>Guaranteed</a:t>
            </a:r>
            <a:r>
              <a:rPr spc="-90" dirty="0">
                <a:latin typeface="Arial Black" panose="020B0A04020102020204"/>
                <a:cs typeface="Arial Black" panose="020B0A04020102020204"/>
              </a:rPr>
              <a:t> </a:t>
            </a:r>
            <a:r>
              <a:rPr spc="-65" dirty="0">
                <a:latin typeface="Arial Black" panose="020B0A04020102020204"/>
                <a:cs typeface="Arial Black" panose="020B0A04020102020204"/>
              </a:rPr>
              <a:t>Quality</a:t>
            </a:r>
            <a:r>
              <a:rPr spc="-65" dirty="0"/>
              <a:t>: </a:t>
            </a:r>
            <a:r>
              <a:rPr dirty="0"/>
              <a:t>It</a:t>
            </a:r>
            <a:r>
              <a:rPr spc="-65" dirty="0"/>
              <a:t> </a:t>
            </a:r>
            <a:r>
              <a:rPr spc="-55" dirty="0"/>
              <a:t>is</a:t>
            </a:r>
            <a:r>
              <a:rPr spc="-65" dirty="0"/>
              <a:t> </a:t>
            </a:r>
            <a:r>
              <a:rPr spc="-20" dirty="0"/>
              <a:t>both</a:t>
            </a:r>
            <a:r>
              <a:rPr spc="-60" dirty="0"/>
              <a:t> </a:t>
            </a:r>
            <a:r>
              <a:rPr spc="-90" dirty="0">
                <a:latin typeface="Arial Black" panose="020B0A04020102020204"/>
                <a:cs typeface="Arial Black" panose="020B0A04020102020204"/>
              </a:rPr>
              <a:t>Complete</a:t>
            </a:r>
            <a:r>
              <a:rPr spc="-85" dirty="0">
                <a:latin typeface="Arial Black" panose="020B0A04020102020204"/>
                <a:cs typeface="Arial Black" panose="020B0A04020102020204"/>
              </a:rPr>
              <a:t> </a:t>
            </a:r>
            <a:r>
              <a:rPr spc="-20" dirty="0"/>
              <a:t>(always</a:t>
            </a:r>
            <a:r>
              <a:rPr spc="-65" dirty="0"/>
              <a:t> </a:t>
            </a:r>
            <a:r>
              <a:rPr spc="-35" dirty="0"/>
              <a:t>finds</a:t>
            </a:r>
            <a:r>
              <a:rPr spc="-65" dirty="0"/>
              <a:t> </a:t>
            </a:r>
            <a:r>
              <a:rPr dirty="0"/>
              <a:t>a</a:t>
            </a:r>
            <a:r>
              <a:rPr spc="-65" dirty="0"/>
              <a:t> </a:t>
            </a:r>
            <a:r>
              <a:rPr spc="-30" dirty="0"/>
              <a:t>solution)</a:t>
            </a:r>
            <a:r>
              <a:rPr spc="-60" dirty="0"/>
              <a:t> </a:t>
            </a:r>
            <a:r>
              <a:rPr dirty="0"/>
              <a:t>and</a:t>
            </a:r>
            <a:r>
              <a:rPr spc="-60" dirty="0"/>
              <a:t> </a:t>
            </a:r>
            <a:r>
              <a:rPr spc="-25" dirty="0">
                <a:latin typeface="Arial Black" panose="020B0A04020102020204"/>
                <a:cs typeface="Arial Black" panose="020B0A04020102020204"/>
              </a:rPr>
              <a:t>Optimal</a:t>
            </a:r>
            <a:endParaRPr spc="-25" dirty="0">
              <a:latin typeface="Arial Black" panose="020B0A04020102020204"/>
              <a:cs typeface="Arial Black" panose="020B0A04020102020204"/>
            </a:endParaRPr>
          </a:p>
          <a:p>
            <a:pPr marL="12700">
              <a:lnSpc>
                <a:spcPct val="100000"/>
              </a:lnSpc>
              <a:spcBef>
                <a:spcPts val="340"/>
              </a:spcBef>
            </a:pPr>
            <a:r>
              <a:rPr spc="-20" dirty="0"/>
              <a:t>(always</a:t>
            </a:r>
            <a:r>
              <a:rPr spc="-85" dirty="0"/>
              <a:t> </a:t>
            </a:r>
            <a:r>
              <a:rPr spc="-35" dirty="0"/>
              <a:t>finds</a:t>
            </a:r>
            <a:r>
              <a:rPr spc="-85" dirty="0"/>
              <a:t> </a:t>
            </a:r>
            <a:r>
              <a:rPr dirty="0"/>
              <a:t>the</a:t>
            </a:r>
            <a:r>
              <a:rPr spc="-80" dirty="0"/>
              <a:t> </a:t>
            </a:r>
            <a:r>
              <a:rPr i="1" spc="-30" dirty="0">
                <a:latin typeface="Trebuchet MS" panose="020B0603020202020204"/>
                <a:cs typeface="Trebuchet MS" panose="020B0603020202020204"/>
              </a:rPr>
              <a:t>shortest</a:t>
            </a:r>
            <a:r>
              <a:rPr i="1" spc="-60" dirty="0">
                <a:latin typeface="Trebuchet MS" panose="020B0603020202020204"/>
                <a:cs typeface="Trebuchet MS" panose="020B0603020202020204"/>
              </a:rPr>
              <a:t> </a:t>
            </a:r>
            <a:r>
              <a:rPr spc="-10" dirty="0"/>
              <a:t>path).</a:t>
            </a:r>
            <a:endParaRPr spc="-10" dirty="0"/>
          </a:p>
          <a:p>
            <a:pPr marL="12700">
              <a:lnSpc>
                <a:spcPct val="100000"/>
              </a:lnSpc>
              <a:spcBef>
                <a:spcPts val="345"/>
              </a:spcBef>
            </a:pPr>
            <a:r>
              <a:rPr spc="-65" dirty="0">
                <a:latin typeface="Arial Black" panose="020B0A04020102020204"/>
                <a:cs typeface="Arial Black" panose="020B0A04020102020204"/>
              </a:rPr>
              <a:t>Optimal</a:t>
            </a:r>
            <a:r>
              <a:rPr spc="-95" dirty="0">
                <a:latin typeface="Arial Black" panose="020B0A04020102020204"/>
                <a:cs typeface="Arial Black" panose="020B0A04020102020204"/>
              </a:rPr>
              <a:t> </a:t>
            </a:r>
            <a:r>
              <a:rPr spc="-120" dirty="0">
                <a:latin typeface="Arial Black" panose="020B0A04020102020204"/>
                <a:cs typeface="Arial Black" panose="020B0A04020102020204"/>
              </a:rPr>
              <a:t>Balance</a:t>
            </a:r>
            <a:r>
              <a:rPr spc="-120" dirty="0"/>
              <a:t>:</a:t>
            </a:r>
            <a:r>
              <a:rPr spc="-65" dirty="0"/>
              <a:t> </a:t>
            </a:r>
            <a:r>
              <a:rPr dirty="0"/>
              <a:t>It</a:t>
            </a:r>
            <a:r>
              <a:rPr spc="-65" dirty="0"/>
              <a:t> </a:t>
            </a:r>
            <a:r>
              <a:rPr spc="-35" dirty="0"/>
              <a:t>provides</a:t>
            </a:r>
            <a:r>
              <a:rPr spc="-65" dirty="0"/>
              <a:t> </a:t>
            </a:r>
            <a:r>
              <a:rPr dirty="0"/>
              <a:t>a</a:t>
            </a:r>
            <a:r>
              <a:rPr spc="-65" dirty="0"/>
              <a:t> </a:t>
            </a:r>
            <a:r>
              <a:rPr spc="-10" dirty="0"/>
              <a:t>better</a:t>
            </a:r>
            <a:r>
              <a:rPr spc="-65" dirty="0"/>
              <a:t> </a:t>
            </a:r>
            <a:r>
              <a:rPr spc="-20" dirty="0"/>
              <a:t>balance</a:t>
            </a:r>
            <a:r>
              <a:rPr spc="-65" dirty="0"/>
              <a:t> </a:t>
            </a:r>
            <a:r>
              <a:rPr dirty="0"/>
              <a:t>between</a:t>
            </a:r>
            <a:r>
              <a:rPr spc="-60" dirty="0"/>
              <a:t> </a:t>
            </a:r>
            <a:r>
              <a:rPr spc="-114" dirty="0">
                <a:latin typeface="Arial Black" panose="020B0A04020102020204"/>
                <a:cs typeface="Arial Black" panose="020B0A04020102020204"/>
              </a:rPr>
              <a:t>Time</a:t>
            </a:r>
            <a:r>
              <a:rPr spc="-90" dirty="0">
                <a:latin typeface="Arial Black" panose="020B0A04020102020204"/>
                <a:cs typeface="Arial Black" panose="020B0A04020102020204"/>
              </a:rPr>
              <a:t> Complexity</a:t>
            </a:r>
            <a:r>
              <a:rPr spc="-85" dirty="0">
                <a:latin typeface="Arial Black" panose="020B0A04020102020204"/>
                <a:cs typeface="Arial Black" panose="020B0A04020102020204"/>
              </a:rPr>
              <a:t> </a:t>
            </a:r>
            <a:r>
              <a:rPr spc="-25" dirty="0"/>
              <a:t>and</a:t>
            </a:r>
            <a:endParaRPr spc="-25" dirty="0"/>
          </a:p>
          <a:p>
            <a:pPr marL="12700">
              <a:lnSpc>
                <a:spcPct val="100000"/>
              </a:lnSpc>
              <a:spcBef>
                <a:spcPts val="340"/>
              </a:spcBef>
            </a:pPr>
            <a:r>
              <a:rPr spc="-160" dirty="0">
                <a:latin typeface="Arial Black" panose="020B0A04020102020204"/>
                <a:cs typeface="Arial Black" panose="020B0A04020102020204"/>
              </a:rPr>
              <a:t>Space</a:t>
            </a:r>
            <a:r>
              <a:rPr spc="-100" dirty="0">
                <a:latin typeface="Arial Black" panose="020B0A04020102020204"/>
                <a:cs typeface="Arial Black" panose="020B0A04020102020204"/>
              </a:rPr>
              <a:t> </a:t>
            </a:r>
            <a:r>
              <a:rPr spc="-90" dirty="0">
                <a:latin typeface="Arial Black" panose="020B0A04020102020204"/>
                <a:cs typeface="Arial Black" panose="020B0A04020102020204"/>
              </a:rPr>
              <a:t>Complexity </a:t>
            </a:r>
            <a:r>
              <a:rPr spc="-20" dirty="0"/>
              <a:t>compared</a:t>
            </a:r>
            <a:r>
              <a:rPr spc="-75" dirty="0"/>
              <a:t> </a:t>
            </a:r>
            <a:r>
              <a:rPr spc="-20" dirty="0"/>
              <a:t>to</a:t>
            </a:r>
            <a:r>
              <a:rPr spc="-70" dirty="0"/>
              <a:t> </a:t>
            </a:r>
            <a:r>
              <a:rPr dirty="0"/>
              <a:t>BFS,</a:t>
            </a:r>
            <a:r>
              <a:rPr spc="-70" dirty="0"/>
              <a:t> </a:t>
            </a:r>
            <a:r>
              <a:rPr spc="-20" dirty="0"/>
              <a:t>which</a:t>
            </a:r>
            <a:r>
              <a:rPr spc="-75" dirty="0"/>
              <a:t> </a:t>
            </a:r>
            <a:r>
              <a:rPr spc="-10" dirty="0"/>
              <a:t>can</a:t>
            </a:r>
            <a:r>
              <a:rPr spc="-70" dirty="0"/>
              <a:t> </a:t>
            </a:r>
            <a:r>
              <a:rPr spc="-30" dirty="0"/>
              <a:t>easily</a:t>
            </a:r>
            <a:r>
              <a:rPr spc="-75" dirty="0"/>
              <a:t> </a:t>
            </a:r>
            <a:r>
              <a:rPr spc="-35" dirty="0"/>
              <a:t>exhaust</a:t>
            </a:r>
            <a:r>
              <a:rPr spc="-70" dirty="0"/>
              <a:t> </a:t>
            </a:r>
            <a:r>
              <a:rPr spc="-10" dirty="0"/>
              <a:t>memory.</a:t>
            </a:r>
            <a:endParaRPr spc="-10" dirty="0"/>
          </a:p>
        </p:txBody>
      </p:sp>
      <p:sp>
        <p:nvSpPr>
          <p:cNvPr id="4" name="object 4"/>
          <p:cNvSpPr/>
          <p:nvPr/>
        </p:nvSpPr>
        <p:spPr>
          <a:xfrm>
            <a:off x="444241" y="973305"/>
            <a:ext cx="54610" cy="54610"/>
          </a:xfrm>
          <a:custGeom>
            <a:avLst/>
            <a:gdLst/>
            <a:ahLst/>
            <a:cxnLst/>
            <a:rect l="l" t="t" r="r" b="b"/>
            <a:pathLst>
              <a:path w="54609" h="54609">
                <a:moveTo>
                  <a:pt x="30777" y="54393"/>
                </a:moveTo>
                <a:lnTo>
                  <a:pt x="23570" y="54393"/>
                </a:lnTo>
                <a:lnTo>
                  <a:pt x="20104" y="53703"/>
                </a:lnTo>
                <a:lnTo>
                  <a:pt x="0" y="30803"/>
                </a:lnTo>
                <a:lnTo>
                  <a:pt x="0" y="23590"/>
                </a:lnTo>
                <a:lnTo>
                  <a:pt x="23570" y="0"/>
                </a:lnTo>
                <a:lnTo>
                  <a:pt x="30777" y="0"/>
                </a:lnTo>
                <a:lnTo>
                  <a:pt x="54348" y="27196"/>
                </a:lnTo>
                <a:lnTo>
                  <a:pt x="54348" y="30803"/>
                </a:lnTo>
                <a:lnTo>
                  <a:pt x="30777" y="54393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" name="object 5"/>
          <p:cNvSpPr/>
          <p:nvPr/>
        </p:nvSpPr>
        <p:spPr>
          <a:xfrm>
            <a:off x="444241" y="1245273"/>
            <a:ext cx="54610" cy="54610"/>
          </a:xfrm>
          <a:custGeom>
            <a:avLst/>
            <a:gdLst/>
            <a:ahLst/>
            <a:cxnLst/>
            <a:rect l="l" t="t" r="r" b="b"/>
            <a:pathLst>
              <a:path w="54609" h="54609">
                <a:moveTo>
                  <a:pt x="30777" y="54393"/>
                </a:moveTo>
                <a:lnTo>
                  <a:pt x="23570" y="54393"/>
                </a:lnTo>
                <a:lnTo>
                  <a:pt x="20104" y="53703"/>
                </a:lnTo>
                <a:lnTo>
                  <a:pt x="0" y="30803"/>
                </a:lnTo>
                <a:lnTo>
                  <a:pt x="0" y="23590"/>
                </a:lnTo>
                <a:lnTo>
                  <a:pt x="23570" y="0"/>
                </a:lnTo>
                <a:lnTo>
                  <a:pt x="30777" y="0"/>
                </a:lnTo>
                <a:lnTo>
                  <a:pt x="54348" y="27196"/>
                </a:lnTo>
                <a:lnTo>
                  <a:pt x="54348" y="30803"/>
                </a:lnTo>
                <a:lnTo>
                  <a:pt x="30777" y="54393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/>
          <p:nvPr/>
        </p:nvSpPr>
        <p:spPr>
          <a:xfrm>
            <a:off x="444241" y="2061178"/>
            <a:ext cx="54610" cy="54610"/>
          </a:xfrm>
          <a:custGeom>
            <a:avLst/>
            <a:gdLst/>
            <a:ahLst/>
            <a:cxnLst/>
            <a:rect l="l" t="t" r="r" b="b"/>
            <a:pathLst>
              <a:path w="54609" h="54610">
                <a:moveTo>
                  <a:pt x="30777" y="54393"/>
                </a:moveTo>
                <a:lnTo>
                  <a:pt x="23570" y="54393"/>
                </a:lnTo>
                <a:lnTo>
                  <a:pt x="20104" y="53703"/>
                </a:lnTo>
                <a:lnTo>
                  <a:pt x="0" y="30803"/>
                </a:lnTo>
                <a:lnTo>
                  <a:pt x="0" y="23590"/>
                </a:lnTo>
                <a:lnTo>
                  <a:pt x="23570" y="0"/>
                </a:lnTo>
                <a:lnTo>
                  <a:pt x="30777" y="0"/>
                </a:lnTo>
                <a:lnTo>
                  <a:pt x="54348" y="27196"/>
                </a:lnTo>
                <a:lnTo>
                  <a:pt x="54348" y="30803"/>
                </a:lnTo>
                <a:lnTo>
                  <a:pt x="30777" y="54393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7" name="object 7"/>
          <p:cNvSpPr/>
          <p:nvPr/>
        </p:nvSpPr>
        <p:spPr>
          <a:xfrm>
            <a:off x="444241" y="2605113"/>
            <a:ext cx="54610" cy="54610"/>
          </a:xfrm>
          <a:custGeom>
            <a:avLst/>
            <a:gdLst/>
            <a:ahLst/>
            <a:cxnLst/>
            <a:rect l="l" t="t" r="r" b="b"/>
            <a:pathLst>
              <a:path w="54609" h="54610">
                <a:moveTo>
                  <a:pt x="30777" y="54393"/>
                </a:moveTo>
                <a:lnTo>
                  <a:pt x="23570" y="54393"/>
                </a:lnTo>
                <a:lnTo>
                  <a:pt x="20104" y="53703"/>
                </a:lnTo>
                <a:lnTo>
                  <a:pt x="0" y="30803"/>
                </a:lnTo>
                <a:lnTo>
                  <a:pt x="0" y="23590"/>
                </a:lnTo>
                <a:lnTo>
                  <a:pt x="23570" y="0"/>
                </a:lnTo>
                <a:lnTo>
                  <a:pt x="30777" y="0"/>
                </a:lnTo>
                <a:lnTo>
                  <a:pt x="54348" y="27196"/>
                </a:lnTo>
                <a:lnTo>
                  <a:pt x="54348" y="30803"/>
                </a:lnTo>
                <a:lnTo>
                  <a:pt x="30777" y="54393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74523" y="1441837"/>
            <a:ext cx="2155825" cy="7270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600" i="1" spc="-670" dirty="0">
                <a:latin typeface="Trebuchet MS" panose="020B0603020202020204"/>
                <a:cs typeface="Trebuchet MS" panose="020B0603020202020204"/>
              </a:rPr>
              <a:t>Thank</a:t>
            </a:r>
            <a:r>
              <a:rPr sz="4600" i="1" spc="-265" dirty="0">
                <a:latin typeface="Trebuchet MS" panose="020B0603020202020204"/>
                <a:cs typeface="Trebuchet MS" panose="020B0603020202020204"/>
              </a:rPr>
              <a:t> </a:t>
            </a:r>
            <a:r>
              <a:rPr sz="4600" i="1" spc="-1019" dirty="0">
                <a:latin typeface="Trebuchet MS" panose="020B0603020202020204"/>
                <a:cs typeface="Trebuchet MS" panose="020B0603020202020204"/>
              </a:rPr>
              <a:t>You</a:t>
            </a:r>
            <a:endParaRPr sz="4600">
              <a:latin typeface="Trebuchet MS" panose="020B0603020202020204"/>
              <a:cs typeface="Trebuchet MS" panose="020B0603020202020204"/>
            </a:endParaRPr>
          </a:p>
        </p:txBody>
      </p:sp>
      <p:pic>
        <p:nvPicPr>
          <p:cNvPr id="3" name="object 3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3759507" y="0"/>
            <a:ext cx="4260529" cy="450799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3164</Words>
  <Application>WPS Presentation</Application>
  <PresentationFormat>On-screen Show (4:3)</PresentationFormat>
  <Paragraphs>155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8" baseType="lpstr">
      <vt:lpstr>Arial</vt:lpstr>
      <vt:lpstr>SimSun</vt:lpstr>
      <vt:lpstr>Wingdings</vt:lpstr>
      <vt:lpstr>Arial</vt:lpstr>
      <vt:lpstr>Lucida Sans Unicode</vt:lpstr>
      <vt:lpstr>Verdana</vt:lpstr>
      <vt:lpstr>Trebuchet MS</vt:lpstr>
      <vt:lpstr>Arial Black</vt:lpstr>
      <vt:lpstr>Tahoma</vt:lpstr>
      <vt:lpstr>Cambria</vt:lpstr>
      <vt:lpstr>Times New Roman</vt:lpstr>
      <vt:lpstr>Constantia</vt:lpstr>
      <vt:lpstr>Palatino Linotype</vt:lpstr>
      <vt:lpstr>Microsoft YaHei</vt:lpstr>
      <vt:lpstr>Arial Unicode MS</vt:lpstr>
      <vt:lpstr>Calibri</vt:lpstr>
      <vt:lpstr>Office Theme</vt:lpstr>
      <vt:lpstr>8-Puzzle Problem</vt:lpstr>
      <vt:lpstr>Our Team</vt:lpstr>
      <vt:lpstr>Problem Description</vt:lpstr>
      <vt:lpstr>Problem Representation</vt:lpstr>
      <vt:lpstr>Solve Problem with BFS</vt:lpstr>
      <vt:lpstr>Solve Problem with GBFS</vt:lpstr>
      <vt:lpstr>Solve Problem with IDS</vt:lpstr>
      <vt:lpstr>Solve Problem with A*</vt:lpstr>
      <vt:lpstr>Comparison</vt:lpstr>
      <vt:lpstr>Why A * is the Best</vt:lpstr>
      <vt:lpstr>Thank You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8-Puzzle Problem</dc:title>
  <dc:creator/>
  <cp:lastModifiedBy>WPS_1732538437</cp:lastModifiedBy>
  <cp:revision>1</cp:revision>
  <dcterms:created xsi:type="dcterms:W3CDTF">2025-12-21T21:21:01Z</dcterms:created>
  <dcterms:modified xsi:type="dcterms:W3CDTF">2025-12-21T21:21:01Z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2025-12-17T02:00:00Z</vt:filetime>
  </property>
  <property fmtid="{D5CDD505-2E9C-101B-9397-08002B2CF9AE}" pid="3" name="LastSaved">
    <vt:filetime>2025-12-17T02:00:00Z</vt:filetime>
  </property>
  <property fmtid="{D5CDD505-2E9C-101B-9397-08002B2CF9AE}" pid="4" name="ICV">
    <vt:lpwstr>B60A9F396C8841E7803848B29867CEC1_12</vt:lpwstr>
  </property>
  <property fmtid="{D5CDD505-2E9C-101B-9397-08002B2CF9AE}" pid="5" name="KSOProductBuildVer">
    <vt:lpwstr>2057-12.2.0.23158</vt:lpwstr>
  </property>
</Properties>
</file>
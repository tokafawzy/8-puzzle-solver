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8026400" cy="4508500"/>
  <p:notesSz cx="8026400" cy="4508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1980" y="1397635"/>
            <a:ext cx="6822440" cy="946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2DC75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03960" y="2524760"/>
            <a:ext cx="5618480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2DC75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2DC75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01320" y="1036955"/>
            <a:ext cx="3491484" cy="2975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133596" y="1036955"/>
            <a:ext cx="3491484" cy="2975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2DC75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2674" y="135232"/>
            <a:ext cx="7681050" cy="748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2DC75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9915" y="794705"/>
            <a:ext cx="7134225" cy="2201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728976" y="4192905"/>
            <a:ext cx="2568448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01320" y="4192905"/>
            <a:ext cx="1846072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779008" y="4192905"/>
            <a:ext cx="1846072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020050" cy="4508500"/>
          </a:xfrm>
          <a:custGeom>
            <a:avLst/>
            <a:gdLst/>
            <a:ahLst/>
            <a:cxnLst/>
            <a:rect l="l" t="t" r="r" b="b"/>
            <a:pathLst>
              <a:path w="8020050" h="4508500">
                <a:moveTo>
                  <a:pt x="8020049" y="4507991"/>
                </a:moveTo>
                <a:lnTo>
                  <a:pt x="0" y="4507991"/>
                </a:lnTo>
                <a:lnTo>
                  <a:pt x="0" y="0"/>
                </a:lnTo>
                <a:lnTo>
                  <a:pt x="8020049" y="0"/>
                </a:lnTo>
                <a:lnTo>
                  <a:pt x="8020049" y="450799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772" y="1950996"/>
            <a:ext cx="3334385" cy="5524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00" spc="-45"/>
              <a:t>8</a:t>
            </a:r>
            <a:r>
              <a:rPr dirty="0" sz="3350" spc="-45">
                <a:latin typeface="Verdana"/>
                <a:cs typeface="Verdana"/>
              </a:rPr>
              <a:t>-</a:t>
            </a:r>
            <a:r>
              <a:rPr dirty="0" sz="3450" spc="-190"/>
              <a:t>P</a:t>
            </a:r>
            <a:r>
              <a:rPr dirty="0" sz="3400" spc="-190"/>
              <a:t>uzz</a:t>
            </a:r>
            <a:r>
              <a:rPr dirty="0" sz="3450" spc="-190"/>
              <a:t>le</a:t>
            </a:r>
            <a:r>
              <a:rPr dirty="0" sz="3450" spc="-235"/>
              <a:t> </a:t>
            </a:r>
            <a:r>
              <a:rPr dirty="0" sz="3450" spc="-200"/>
              <a:t>Problem</a:t>
            </a:r>
            <a:endParaRPr sz="34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353" y="0"/>
            <a:ext cx="4224696" cy="4507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257" y="443498"/>
            <a:ext cx="1485265" cy="4400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700" spc="-75"/>
              <a:t>O</a:t>
            </a:r>
            <a:r>
              <a:rPr dirty="0" sz="2650" spc="-75">
                <a:latin typeface="Trebuchet MS"/>
                <a:cs typeface="Trebuchet MS"/>
              </a:rPr>
              <a:t>u</a:t>
            </a:r>
            <a:r>
              <a:rPr dirty="0" sz="2700" spc="-75"/>
              <a:t>r</a:t>
            </a:r>
            <a:r>
              <a:rPr dirty="0" sz="2700" spc="-325"/>
              <a:t> </a:t>
            </a:r>
            <a:r>
              <a:rPr dirty="0" sz="2700" spc="-110"/>
              <a:t>Team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26643" y="1547287"/>
            <a:ext cx="822960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90">
                <a:solidFill>
                  <a:srgbClr val="1A1A1A"/>
                </a:solidFill>
                <a:latin typeface="Arial Black"/>
                <a:cs typeface="Arial Black"/>
              </a:rPr>
              <a:t>Toka</a:t>
            </a:r>
            <a:r>
              <a:rPr dirty="0" sz="1100" spc="-6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100" spc="-30">
                <a:solidFill>
                  <a:srgbClr val="1A1A1A"/>
                </a:solidFill>
                <a:latin typeface="Arial Black"/>
                <a:cs typeface="Arial Black"/>
              </a:rPr>
              <a:t>fawzy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63002" y="1974549"/>
            <a:ext cx="1007110" cy="62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9700"/>
              </a:lnSpc>
              <a:spcBef>
                <a:spcPts val="100"/>
              </a:spcBef>
            </a:pPr>
            <a:r>
              <a:rPr dirty="0" sz="1100">
                <a:solidFill>
                  <a:srgbClr val="1A1A1A"/>
                </a:solidFill>
                <a:latin typeface="Lucida Sans Unicode"/>
                <a:cs typeface="Lucida Sans Unicode"/>
              </a:rPr>
              <a:t>Implement</a:t>
            </a:r>
            <a:r>
              <a:rPr dirty="0" sz="11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1A1A1A"/>
                </a:solidFill>
                <a:latin typeface="Lucida Sans Unicode"/>
                <a:cs typeface="Lucida Sans Unicode"/>
              </a:rPr>
              <a:t>the </a:t>
            </a:r>
            <a:r>
              <a:rPr dirty="0" sz="1100" spc="-10">
                <a:solidFill>
                  <a:srgbClr val="1A1A1A"/>
                </a:solidFill>
                <a:latin typeface="Lucida Sans Unicode"/>
                <a:cs typeface="Lucida Sans Unicode"/>
              </a:rPr>
              <a:t>problem</a:t>
            </a:r>
            <a:r>
              <a:rPr dirty="0" sz="11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Lucida Sans Unicode"/>
                <a:cs typeface="Lucida Sans Unicode"/>
              </a:rPr>
              <a:t>with </a:t>
            </a:r>
            <a:r>
              <a:rPr dirty="0" sz="1100" spc="-25">
                <a:solidFill>
                  <a:srgbClr val="1A1A1A"/>
                </a:solidFill>
                <a:latin typeface="Lucida Sans Unicode"/>
                <a:cs typeface="Lucida Sans Unicode"/>
              </a:rPr>
              <a:t>A*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91407" y="1547287"/>
            <a:ext cx="974725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20">
                <a:solidFill>
                  <a:srgbClr val="1A1A1A"/>
                </a:solidFill>
                <a:latin typeface="Arial Black"/>
                <a:cs typeface="Arial Black"/>
              </a:rPr>
              <a:t>Mariam</a:t>
            </a:r>
            <a:r>
              <a:rPr dirty="0" sz="1100" spc="-5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100" spc="-45">
                <a:solidFill>
                  <a:srgbClr val="1A1A1A"/>
                </a:solidFill>
                <a:latin typeface="Arial Black"/>
                <a:cs typeface="Arial Black"/>
              </a:rPr>
              <a:t>Ehab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75068" y="1974549"/>
            <a:ext cx="1007110" cy="62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9700"/>
              </a:lnSpc>
              <a:spcBef>
                <a:spcPts val="100"/>
              </a:spcBef>
            </a:pPr>
            <a:r>
              <a:rPr dirty="0" sz="1100">
                <a:solidFill>
                  <a:srgbClr val="1A1A1A"/>
                </a:solidFill>
                <a:latin typeface="Lucida Sans Unicode"/>
                <a:cs typeface="Lucida Sans Unicode"/>
              </a:rPr>
              <a:t>Implement</a:t>
            </a:r>
            <a:r>
              <a:rPr dirty="0" sz="11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1A1A1A"/>
                </a:solidFill>
                <a:latin typeface="Lucida Sans Unicode"/>
                <a:cs typeface="Lucida Sans Unicode"/>
              </a:rPr>
              <a:t>the </a:t>
            </a:r>
            <a:r>
              <a:rPr dirty="0" sz="1100" spc="-10">
                <a:solidFill>
                  <a:srgbClr val="1A1A1A"/>
                </a:solidFill>
                <a:latin typeface="Lucida Sans Unicode"/>
                <a:cs typeface="Lucida Sans Unicode"/>
              </a:rPr>
              <a:t>problem</a:t>
            </a:r>
            <a:r>
              <a:rPr dirty="0" sz="11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Lucida Sans Unicode"/>
                <a:cs typeface="Lucida Sans Unicode"/>
              </a:rPr>
              <a:t>with GBFS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11257" y="1547287"/>
            <a:ext cx="1105535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25">
                <a:solidFill>
                  <a:srgbClr val="1A1A1A"/>
                </a:solidFill>
                <a:latin typeface="Arial Black"/>
                <a:cs typeface="Arial Black"/>
              </a:rPr>
              <a:t>Mennah</a:t>
            </a:r>
            <a:r>
              <a:rPr dirty="0" sz="1100" spc="-4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100" spc="-35">
                <a:solidFill>
                  <a:srgbClr val="1A1A1A"/>
                </a:solidFill>
                <a:latin typeface="Arial Black"/>
                <a:cs typeface="Arial Black"/>
              </a:rPr>
              <a:t>Ragab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60283" y="1974549"/>
            <a:ext cx="1007110" cy="62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9700"/>
              </a:lnSpc>
              <a:spcBef>
                <a:spcPts val="100"/>
              </a:spcBef>
            </a:pPr>
            <a:r>
              <a:rPr dirty="0" sz="1100">
                <a:solidFill>
                  <a:srgbClr val="1A1A1A"/>
                </a:solidFill>
                <a:latin typeface="Lucida Sans Unicode"/>
                <a:cs typeface="Lucida Sans Unicode"/>
              </a:rPr>
              <a:t>Implement</a:t>
            </a:r>
            <a:r>
              <a:rPr dirty="0" sz="11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1A1A1A"/>
                </a:solidFill>
                <a:latin typeface="Lucida Sans Unicode"/>
                <a:cs typeface="Lucida Sans Unicode"/>
              </a:rPr>
              <a:t>the </a:t>
            </a:r>
            <a:r>
              <a:rPr dirty="0" sz="1100" spc="-10">
                <a:solidFill>
                  <a:srgbClr val="1A1A1A"/>
                </a:solidFill>
                <a:latin typeface="Lucida Sans Unicode"/>
                <a:cs typeface="Lucida Sans Unicode"/>
              </a:rPr>
              <a:t>problem</a:t>
            </a:r>
            <a:r>
              <a:rPr dirty="0" sz="11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Lucida Sans Unicode"/>
                <a:cs typeface="Lucida Sans Unicode"/>
              </a:rPr>
              <a:t>with </a:t>
            </a:r>
            <a:r>
              <a:rPr dirty="0" sz="1100" spc="-25">
                <a:solidFill>
                  <a:srgbClr val="1A1A1A"/>
                </a:solidFill>
                <a:latin typeface="Lucida Sans Unicode"/>
                <a:cs typeface="Lucida Sans Unicode"/>
              </a:rPr>
              <a:t>BFS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08109" y="1547287"/>
            <a:ext cx="1032510" cy="1993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100" spc="-20">
                <a:solidFill>
                  <a:srgbClr val="1A1A1A"/>
                </a:solidFill>
                <a:latin typeface="Arial Black"/>
                <a:cs typeface="Arial Black"/>
              </a:rPr>
              <a:t>Mariam</a:t>
            </a:r>
            <a:r>
              <a:rPr dirty="0" sz="1100" spc="-3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100" spc="-60">
                <a:solidFill>
                  <a:srgbClr val="1A1A1A"/>
                </a:solidFill>
                <a:latin typeface="Arial Black"/>
                <a:cs typeface="Arial Black"/>
              </a:rPr>
              <a:t>Fasile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538912" y="1974549"/>
            <a:ext cx="1007110" cy="62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9700"/>
              </a:lnSpc>
              <a:spcBef>
                <a:spcPts val="100"/>
              </a:spcBef>
            </a:pPr>
            <a:r>
              <a:rPr dirty="0" sz="1100">
                <a:solidFill>
                  <a:srgbClr val="1A1A1A"/>
                </a:solidFill>
                <a:latin typeface="Lucida Sans Unicode"/>
                <a:cs typeface="Lucida Sans Unicode"/>
              </a:rPr>
              <a:t>Implement</a:t>
            </a:r>
            <a:r>
              <a:rPr dirty="0" sz="11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1A1A1A"/>
                </a:solidFill>
                <a:latin typeface="Lucida Sans Unicode"/>
                <a:cs typeface="Lucida Sans Unicode"/>
              </a:rPr>
              <a:t>the </a:t>
            </a:r>
            <a:r>
              <a:rPr dirty="0" sz="1100" spc="-10">
                <a:solidFill>
                  <a:srgbClr val="1A1A1A"/>
                </a:solidFill>
                <a:latin typeface="Lucida Sans Unicode"/>
                <a:cs typeface="Lucida Sans Unicode"/>
              </a:rPr>
              <a:t>problem</a:t>
            </a:r>
            <a:r>
              <a:rPr dirty="0" sz="11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1A1A1A"/>
                </a:solidFill>
                <a:latin typeface="Lucida Sans Unicode"/>
                <a:cs typeface="Lucida Sans Unicode"/>
              </a:rPr>
              <a:t>with </a:t>
            </a:r>
            <a:r>
              <a:rPr dirty="0" sz="1100" spc="-25">
                <a:solidFill>
                  <a:srgbClr val="1A1A1A"/>
                </a:solidFill>
                <a:latin typeface="Lucida Sans Unicode"/>
                <a:cs typeface="Lucida Sans Unicode"/>
              </a:rPr>
              <a:t>IDS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9166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05"/>
              </a:spcBef>
            </a:pPr>
            <a:r>
              <a:rPr dirty="0" sz="2550" spc="-125" b="0">
                <a:latin typeface="Arial Black"/>
                <a:cs typeface="Arial Black"/>
              </a:rPr>
              <a:t>Problem</a:t>
            </a:r>
            <a:r>
              <a:rPr dirty="0" sz="2550" spc="-170" b="0">
                <a:latin typeface="Arial Black"/>
                <a:cs typeface="Arial Black"/>
              </a:rPr>
              <a:t> </a:t>
            </a:r>
            <a:r>
              <a:rPr dirty="0" sz="2550" spc="-125" b="0">
                <a:latin typeface="Arial Black"/>
                <a:cs typeface="Arial Black"/>
              </a:rPr>
              <a:t>Description</a:t>
            </a:r>
            <a:endParaRPr sz="255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90750" y="1021044"/>
            <a:ext cx="3176905" cy="1716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3340">
              <a:lnSpc>
                <a:spcPct val="120600"/>
              </a:lnSpc>
              <a:spcBef>
                <a:spcPts val="95"/>
              </a:spcBef>
            </a:pPr>
            <a:r>
              <a:rPr dirty="0" sz="1150" spc="-3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75">
                <a:solidFill>
                  <a:srgbClr val="1A1A1A"/>
                </a:solidFill>
                <a:latin typeface="Lucida Sans Unicode"/>
                <a:cs typeface="Lucida Sans Unicode"/>
              </a:rPr>
              <a:t>8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5">
                <a:solidFill>
                  <a:srgbClr val="1A1A1A"/>
                </a:solidFill>
                <a:latin typeface="Lucida Sans Unicode"/>
                <a:cs typeface="Lucida Sans Unicode"/>
              </a:rPr>
              <a:t>Puzzle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Problem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is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a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0">
                <a:solidFill>
                  <a:srgbClr val="1A1A1A"/>
                </a:solidFill>
                <a:latin typeface="Lucida Sans Unicode"/>
                <a:cs typeface="Lucida Sans Unicode"/>
              </a:rPr>
              <a:t>classic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problem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5">
                <a:solidFill>
                  <a:srgbClr val="1A1A1A"/>
                </a:solidFill>
                <a:latin typeface="Lucida Sans Unicode"/>
                <a:cs typeface="Lucida Sans Unicode"/>
              </a:rPr>
              <a:t>in artificial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intelligence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(AI)</a:t>
            </a:r>
            <a:r>
              <a:rPr dirty="0" sz="1150" spc="-4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and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is</a:t>
            </a:r>
            <a:r>
              <a:rPr dirty="0" sz="1150" spc="-4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often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used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5">
                <a:solidFill>
                  <a:srgbClr val="1A1A1A"/>
                </a:solidFill>
                <a:latin typeface="Lucida Sans Unicode"/>
                <a:cs typeface="Lucida Sans Unicode"/>
              </a:rPr>
              <a:t>to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teach</a:t>
            </a:r>
            <a:r>
              <a:rPr dirty="0" sz="1150" spc="-2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problem-</a:t>
            </a:r>
            <a:r>
              <a:rPr dirty="0" sz="1150" spc="-25">
                <a:solidFill>
                  <a:srgbClr val="1A1A1A"/>
                </a:solidFill>
                <a:latin typeface="Lucida Sans Unicode"/>
                <a:cs typeface="Lucida Sans Unicode"/>
              </a:rPr>
              <a:t>solving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techniques,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particularly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in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areas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of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search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algorithms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and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heuristic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optimization.</a:t>
            </a:r>
            <a:endParaRPr sz="1150">
              <a:latin typeface="Lucida Sans Unicode"/>
              <a:cs typeface="Lucida Sans Unicode"/>
            </a:endParaRPr>
          </a:p>
          <a:p>
            <a:pPr marL="12700" marR="5080">
              <a:lnSpc>
                <a:spcPct val="120600"/>
              </a:lnSpc>
              <a:spcBef>
                <a:spcPts val="1664"/>
              </a:spcBef>
            </a:pP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It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0">
                <a:solidFill>
                  <a:srgbClr val="1A1A1A"/>
                </a:solidFill>
                <a:latin typeface="Lucida Sans Unicode"/>
                <a:cs typeface="Lucida Sans Unicode"/>
              </a:rPr>
              <a:t>consists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of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a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75">
                <a:solidFill>
                  <a:srgbClr val="1A1A1A"/>
                </a:solidFill>
                <a:latin typeface="Lucida Sans Unicode"/>
                <a:cs typeface="Lucida Sans Unicode"/>
              </a:rPr>
              <a:t>3x3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grid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with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75">
                <a:solidFill>
                  <a:srgbClr val="1A1A1A"/>
                </a:solidFill>
                <a:latin typeface="Lucida Sans Unicode"/>
                <a:cs typeface="Lucida Sans Unicode"/>
              </a:rPr>
              <a:t>8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numbered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tiles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and</a:t>
            </a:r>
            <a:r>
              <a:rPr dirty="0" sz="115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one</a:t>
            </a:r>
            <a:r>
              <a:rPr dirty="0" sz="115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empty</a:t>
            </a:r>
            <a:r>
              <a:rPr dirty="0" sz="115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space.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809505" y="-4056"/>
            <a:ext cx="4215130" cy="4516120"/>
            <a:chOff x="3809505" y="-4056"/>
            <a:chExt cx="4215130" cy="451612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3562" y="0"/>
              <a:ext cx="4206477" cy="450799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813562" y="0"/>
              <a:ext cx="4206875" cy="4508500"/>
            </a:xfrm>
            <a:custGeom>
              <a:avLst/>
              <a:gdLst/>
              <a:ahLst/>
              <a:cxnLst/>
              <a:rect l="l" t="t" r="r" b="b"/>
              <a:pathLst>
                <a:path w="4206875" h="4508500">
                  <a:moveTo>
                    <a:pt x="0" y="4507991"/>
                  </a:moveTo>
                  <a:lnTo>
                    <a:pt x="0" y="0"/>
                  </a:lnTo>
                  <a:lnTo>
                    <a:pt x="4206487" y="0"/>
                  </a:lnTo>
                  <a:lnTo>
                    <a:pt x="4206476" y="4507991"/>
                  </a:lnTo>
                </a:path>
              </a:pathLst>
            </a:custGeom>
            <a:ln w="811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66927" y="1603187"/>
            <a:ext cx="1482725" cy="8826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13995">
              <a:lnSpc>
                <a:spcPct val="100000"/>
              </a:lnSpc>
              <a:spcBef>
                <a:spcPts val="130"/>
              </a:spcBef>
            </a:pPr>
            <a:r>
              <a:rPr dirty="0" sz="1500" spc="-85">
                <a:solidFill>
                  <a:srgbClr val="1A1A1A"/>
                </a:solidFill>
                <a:latin typeface="Arial Black"/>
                <a:cs typeface="Arial Black"/>
              </a:rPr>
              <a:t>Goal</a:t>
            </a:r>
            <a:r>
              <a:rPr dirty="0" sz="1500" spc="-9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500" spc="-20">
                <a:solidFill>
                  <a:srgbClr val="1A1A1A"/>
                </a:solidFill>
                <a:latin typeface="Arial Black"/>
                <a:cs typeface="Arial Black"/>
              </a:rPr>
              <a:t>Test</a:t>
            </a:r>
            <a:endParaRPr sz="1500">
              <a:latin typeface="Arial Black"/>
              <a:cs typeface="Arial Black"/>
            </a:endParaRPr>
          </a:p>
          <a:p>
            <a:pPr marL="168910" marR="5080" indent="-156845">
              <a:lnSpc>
                <a:spcPct val="119100"/>
              </a:lnSpc>
              <a:spcBef>
                <a:spcPts val="1630"/>
              </a:spcBef>
            </a:pPr>
            <a:r>
              <a:rPr dirty="0" sz="1150" spc="-40">
                <a:solidFill>
                  <a:srgbClr val="1A1A1A"/>
                </a:solidFill>
                <a:latin typeface="Lucida Sans Unicode"/>
                <a:cs typeface="Lucida Sans Unicode"/>
              </a:rPr>
              <a:t>Check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40">
                <a:solidFill>
                  <a:srgbClr val="1A1A1A"/>
                </a:solidFill>
                <a:latin typeface="Lucida Sans Unicode"/>
                <a:cs typeface="Lucida Sans Unicode"/>
              </a:rPr>
              <a:t>if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current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state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match</a:t>
            </a:r>
            <a:r>
              <a:rPr dirty="0" sz="115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goal</a:t>
            </a:r>
            <a:r>
              <a:rPr dirty="0" sz="115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state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1112" rIns="0" bIns="0" rtlCol="0" vert="horz">
            <a:spAutoFit/>
          </a:bodyPr>
          <a:lstStyle/>
          <a:p>
            <a:pPr marL="2009139">
              <a:lnSpc>
                <a:spcPct val="100000"/>
              </a:lnSpc>
              <a:spcBef>
                <a:spcPts val="115"/>
              </a:spcBef>
            </a:pPr>
            <a:r>
              <a:rPr dirty="0" spc="-130">
                <a:latin typeface="Trebuchet MS"/>
                <a:cs typeface="Trebuchet MS"/>
              </a:rPr>
              <a:t>Problem</a:t>
            </a:r>
            <a:r>
              <a:rPr dirty="0" spc="-225">
                <a:latin typeface="Trebuchet MS"/>
                <a:cs typeface="Trebuchet MS"/>
              </a:rPr>
              <a:t> </a:t>
            </a:r>
            <a:r>
              <a:rPr dirty="0" spc="-90">
                <a:latin typeface="Trebuchet MS"/>
                <a:cs typeface="Trebuchet MS"/>
              </a:rPr>
              <a:t>Represen</a:t>
            </a:r>
            <a:r>
              <a:rPr dirty="0" sz="2550" spc="-90">
                <a:latin typeface="Tahoma"/>
                <a:cs typeface="Tahoma"/>
              </a:rPr>
              <a:t>t</a:t>
            </a:r>
            <a:r>
              <a:rPr dirty="0" spc="-90">
                <a:latin typeface="Trebuchet MS"/>
                <a:cs typeface="Trebuchet MS"/>
              </a:rPr>
              <a:t>a</a:t>
            </a:r>
            <a:r>
              <a:rPr dirty="0" sz="2550" spc="-90">
                <a:latin typeface="Tahoma"/>
                <a:cs typeface="Tahoma"/>
              </a:rPr>
              <a:t>t</a:t>
            </a:r>
            <a:r>
              <a:rPr dirty="0" spc="-90">
                <a:latin typeface="Trebuchet MS"/>
                <a:cs typeface="Trebuchet MS"/>
              </a:rPr>
              <a:t>ion</a:t>
            </a:r>
            <a:endParaRPr sz="25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63721" y="1603187"/>
            <a:ext cx="824865" cy="8826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36195">
              <a:lnSpc>
                <a:spcPct val="100000"/>
              </a:lnSpc>
              <a:spcBef>
                <a:spcPts val="130"/>
              </a:spcBef>
            </a:pPr>
            <a:r>
              <a:rPr dirty="0" sz="1500" spc="-10">
                <a:latin typeface="Arial Black"/>
                <a:cs typeface="Arial Black"/>
              </a:rPr>
              <a:t>Action</a:t>
            </a:r>
            <a:endParaRPr sz="1500">
              <a:latin typeface="Arial Black"/>
              <a:cs typeface="Arial Black"/>
            </a:endParaRPr>
          </a:p>
          <a:p>
            <a:pPr algn="ctr" marL="12700" marR="5080">
              <a:lnSpc>
                <a:spcPct val="119100"/>
              </a:lnSpc>
              <a:spcBef>
                <a:spcPts val="1630"/>
              </a:spcBef>
            </a:pPr>
            <a:r>
              <a:rPr dirty="0" sz="1150" spc="-30">
                <a:solidFill>
                  <a:srgbClr val="1A1A1A"/>
                </a:solidFill>
                <a:latin typeface="Lucida Sans Unicode"/>
                <a:cs typeface="Lucida Sans Unicode"/>
              </a:rPr>
              <a:t>Direction</a:t>
            </a:r>
            <a:r>
              <a:rPr dirty="0" sz="1150" spc="-1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5">
                <a:solidFill>
                  <a:srgbClr val="1A1A1A"/>
                </a:solidFill>
                <a:latin typeface="Lucida Sans Unicode"/>
                <a:cs typeface="Lucida Sans Unicode"/>
              </a:rPr>
              <a:t>of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moves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2846" y="1603187"/>
            <a:ext cx="1236345" cy="8826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500" spc="-35">
                <a:latin typeface="Arial Black"/>
                <a:cs typeface="Arial Black"/>
              </a:rPr>
              <a:t>Initial</a:t>
            </a:r>
            <a:r>
              <a:rPr dirty="0" sz="1500" spc="-70">
                <a:latin typeface="Arial Black"/>
                <a:cs typeface="Arial Black"/>
              </a:rPr>
              <a:t> </a:t>
            </a:r>
            <a:r>
              <a:rPr dirty="0" sz="1500" spc="-10">
                <a:latin typeface="Arial Black"/>
                <a:cs typeface="Arial Black"/>
              </a:rPr>
              <a:t>State</a:t>
            </a:r>
            <a:endParaRPr sz="1500">
              <a:latin typeface="Arial Black"/>
              <a:cs typeface="Arial Black"/>
            </a:endParaRPr>
          </a:p>
          <a:p>
            <a:pPr algn="ctr" marL="12065" marR="5080">
              <a:lnSpc>
                <a:spcPct val="119100"/>
              </a:lnSpc>
              <a:spcBef>
                <a:spcPts val="1630"/>
              </a:spcBef>
            </a:pPr>
            <a:r>
              <a:rPr dirty="0" sz="1150">
                <a:latin typeface="Lucida Sans Unicode"/>
                <a:cs typeface="Lucida Sans Unicode"/>
              </a:rPr>
              <a:t>Start</a:t>
            </a:r>
            <a:r>
              <a:rPr dirty="0" sz="1150" spc="-70">
                <a:latin typeface="Lucida Sans Unicode"/>
                <a:cs typeface="Lucida Sans Unicode"/>
              </a:rPr>
              <a:t> </a:t>
            </a:r>
            <a:r>
              <a:rPr dirty="0" sz="1150" spc="-25">
                <a:latin typeface="Lucida Sans Unicode"/>
                <a:cs typeface="Lucida Sans Unicode"/>
              </a:rPr>
              <a:t>location</a:t>
            </a:r>
            <a:r>
              <a:rPr dirty="0" sz="1150" spc="-65">
                <a:latin typeface="Lucida Sans Unicode"/>
                <a:cs typeface="Lucida Sans Unicode"/>
              </a:rPr>
              <a:t> </a:t>
            </a:r>
            <a:r>
              <a:rPr dirty="0" sz="1150" spc="-30">
                <a:latin typeface="Lucida Sans Unicode"/>
                <a:cs typeface="Lucida Sans Unicode"/>
              </a:rPr>
              <a:t>of</a:t>
            </a:r>
            <a:r>
              <a:rPr dirty="0" sz="1150" spc="-65">
                <a:latin typeface="Lucida Sans Unicode"/>
                <a:cs typeface="Lucida Sans Unicode"/>
              </a:rPr>
              <a:t> </a:t>
            </a:r>
            <a:r>
              <a:rPr dirty="0" sz="1150" spc="-50">
                <a:latin typeface="Lucida Sans Unicode"/>
                <a:cs typeface="Lucida Sans Unicode"/>
              </a:rPr>
              <a:t>8 </a:t>
            </a:r>
            <a:r>
              <a:rPr dirty="0" sz="1150" spc="-10">
                <a:latin typeface="Lucida Sans Unicode"/>
                <a:cs typeface="Lucida Sans Unicode"/>
              </a:rPr>
              <a:t>tiles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18530" y="1603187"/>
            <a:ext cx="1402715" cy="12509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500" spc="-85">
                <a:latin typeface="Arial Black"/>
                <a:cs typeface="Arial Black"/>
              </a:rPr>
              <a:t>Goal</a:t>
            </a:r>
            <a:r>
              <a:rPr dirty="0" sz="1500" spc="-90">
                <a:latin typeface="Arial Black"/>
                <a:cs typeface="Arial Black"/>
              </a:rPr>
              <a:t> </a:t>
            </a:r>
            <a:r>
              <a:rPr dirty="0" sz="1500" spc="-10">
                <a:latin typeface="Arial Black"/>
                <a:cs typeface="Arial Black"/>
              </a:rPr>
              <a:t>state</a:t>
            </a:r>
            <a:endParaRPr sz="1500">
              <a:latin typeface="Arial Black"/>
              <a:cs typeface="Arial Black"/>
            </a:endParaRPr>
          </a:p>
          <a:p>
            <a:pPr algn="ctr" marL="12700" marR="5080" indent="-635">
              <a:lnSpc>
                <a:spcPct val="119100"/>
              </a:lnSpc>
              <a:spcBef>
                <a:spcPts val="1240"/>
              </a:spcBef>
            </a:pP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arrange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0">
                <a:solidFill>
                  <a:srgbClr val="1A1A1A"/>
                </a:solidFill>
                <a:latin typeface="Lucida Sans Unicode"/>
                <a:cs typeface="Lucida Sans Unicode"/>
              </a:rPr>
              <a:t>tiles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5">
                <a:solidFill>
                  <a:srgbClr val="1A1A1A"/>
                </a:solidFill>
                <a:latin typeface="Lucida Sans Unicode"/>
                <a:cs typeface="Lucida Sans Unicode"/>
              </a:rPr>
              <a:t>in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a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5">
                <a:solidFill>
                  <a:srgbClr val="1A1A1A"/>
                </a:solidFill>
                <a:latin typeface="Lucida Sans Unicode"/>
                <a:cs typeface="Lucida Sans Unicode"/>
              </a:rPr>
              <a:t>specific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order</a:t>
            </a:r>
            <a:r>
              <a:rPr dirty="0" sz="115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with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15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0">
                <a:solidFill>
                  <a:srgbClr val="1A1A1A"/>
                </a:solidFill>
                <a:latin typeface="Lucida Sans Unicode"/>
                <a:cs typeface="Lucida Sans Unicode"/>
              </a:rPr>
              <a:t>blank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space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5">
                <a:solidFill>
                  <a:srgbClr val="1A1A1A"/>
                </a:solidFill>
                <a:latin typeface="Lucida Sans Unicode"/>
                <a:cs typeface="Lucida Sans Unicode"/>
              </a:rPr>
              <a:t>at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15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bottom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right.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45570" y="885692"/>
            <a:ext cx="4756150" cy="215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60" b="1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dirty="0" sz="1250" spc="-60" b="1">
                <a:solidFill>
                  <a:srgbClr val="1A1A1A"/>
                </a:solidFill>
                <a:latin typeface="Arial"/>
                <a:cs typeface="Arial"/>
              </a:rPr>
              <a:t>he</a:t>
            </a:r>
            <a:r>
              <a:rPr dirty="0" sz="1250" spc="-6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A1A1A"/>
                </a:solidFill>
                <a:latin typeface="Trebuchet MS"/>
                <a:cs typeface="Trebuchet MS"/>
              </a:rPr>
              <a:t>8</a:t>
            </a:r>
            <a:r>
              <a:rPr dirty="0" sz="1200" spc="-8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250" spc="-80" b="1">
                <a:solidFill>
                  <a:srgbClr val="1A1A1A"/>
                </a:solidFill>
                <a:latin typeface="Arial"/>
                <a:cs typeface="Arial"/>
              </a:rPr>
              <a:t>P</a:t>
            </a:r>
            <a:r>
              <a:rPr dirty="0" sz="1200" spc="-80" b="1">
                <a:solidFill>
                  <a:srgbClr val="1A1A1A"/>
                </a:solidFill>
                <a:latin typeface="Trebuchet MS"/>
                <a:cs typeface="Trebuchet MS"/>
              </a:rPr>
              <a:t>uzz</a:t>
            </a:r>
            <a:r>
              <a:rPr dirty="0" sz="1250" spc="-80" b="1">
                <a:solidFill>
                  <a:srgbClr val="1A1A1A"/>
                </a:solidFill>
                <a:latin typeface="Arial"/>
                <a:cs typeface="Arial"/>
              </a:rPr>
              <a:t>le</a:t>
            </a:r>
            <a:r>
              <a:rPr dirty="0" sz="1250" spc="-6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50" spc="-90" b="1">
                <a:solidFill>
                  <a:srgbClr val="1A1A1A"/>
                </a:solidFill>
                <a:latin typeface="Arial"/>
                <a:cs typeface="Arial"/>
              </a:rPr>
              <a:t>Problem</a:t>
            </a:r>
            <a:r>
              <a:rPr dirty="0" sz="1250" spc="-6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50" spc="-120" b="1">
                <a:solidFill>
                  <a:srgbClr val="1A1A1A"/>
                </a:solidFill>
                <a:latin typeface="Arial"/>
                <a:cs typeface="Arial"/>
              </a:rPr>
              <a:t>is</a:t>
            </a:r>
            <a:r>
              <a:rPr dirty="0" sz="1250" spc="-9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00" spc="-55" b="1">
                <a:solidFill>
                  <a:srgbClr val="1A1A1A"/>
                </a:solidFill>
                <a:latin typeface="Trebuchet MS"/>
                <a:cs typeface="Trebuchet MS"/>
              </a:rPr>
              <a:t>ty</a:t>
            </a:r>
            <a:r>
              <a:rPr dirty="0" sz="1250" spc="-55" b="1">
                <a:solidFill>
                  <a:srgbClr val="1A1A1A"/>
                </a:solidFill>
                <a:latin typeface="Arial"/>
                <a:cs typeface="Arial"/>
              </a:rPr>
              <a:t>picall</a:t>
            </a:r>
            <a:r>
              <a:rPr dirty="0" sz="1200" spc="-55" b="1">
                <a:solidFill>
                  <a:srgbClr val="1A1A1A"/>
                </a:solidFill>
                <a:latin typeface="Trebuchet MS"/>
                <a:cs typeface="Trebuchet MS"/>
              </a:rPr>
              <a:t>y</a:t>
            </a:r>
            <a:r>
              <a:rPr dirty="0" sz="1200" spc="-10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250" spc="-80" b="1">
                <a:solidFill>
                  <a:srgbClr val="1A1A1A"/>
                </a:solidFill>
                <a:latin typeface="Arial"/>
                <a:cs typeface="Arial"/>
              </a:rPr>
              <a:t>represen</a:t>
            </a:r>
            <a:r>
              <a:rPr dirty="0" sz="1200" spc="-80" b="1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dirty="0" sz="1250" spc="-80" b="1">
                <a:solidFill>
                  <a:srgbClr val="1A1A1A"/>
                </a:solidFill>
                <a:latin typeface="Arial"/>
                <a:cs typeface="Arial"/>
              </a:rPr>
              <a:t>ed</a:t>
            </a:r>
            <a:r>
              <a:rPr dirty="0" sz="1250" spc="-6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50" spc="-90" b="1">
                <a:solidFill>
                  <a:srgbClr val="1A1A1A"/>
                </a:solidFill>
                <a:latin typeface="Arial"/>
                <a:cs typeface="Arial"/>
              </a:rPr>
              <a:t>as</a:t>
            </a:r>
            <a:r>
              <a:rPr dirty="0" sz="1250" spc="-6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250" spc="-6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50" spc="-60" b="1">
                <a:solidFill>
                  <a:srgbClr val="1A1A1A"/>
                </a:solidFill>
                <a:latin typeface="Arial"/>
                <a:cs typeface="Arial"/>
              </a:rPr>
              <a:t>s</a:t>
            </a:r>
            <a:r>
              <a:rPr dirty="0" sz="1200" spc="-60" b="1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dirty="0" sz="1250" spc="-60" b="1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1200" spc="-60" b="1">
                <a:solidFill>
                  <a:srgbClr val="1A1A1A"/>
                </a:solidFill>
                <a:latin typeface="Trebuchet MS"/>
                <a:cs typeface="Trebuchet MS"/>
              </a:rPr>
              <a:t>t</a:t>
            </a:r>
            <a:r>
              <a:rPr dirty="0" sz="1250" spc="-60" b="1">
                <a:solidFill>
                  <a:srgbClr val="1A1A1A"/>
                </a:solidFill>
                <a:latin typeface="Arial"/>
                <a:cs typeface="Arial"/>
              </a:rPr>
              <a:t>e</a:t>
            </a:r>
            <a:r>
              <a:rPr dirty="0" sz="1250" spc="-65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50" spc="-75" b="1">
                <a:solidFill>
                  <a:srgbClr val="1A1A1A"/>
                </a:solidFill>
                <a:latin typeface="Arial"/>
                <a:cs typeface="Arial"/>
              </a:rPr>
              <a:t>space</a:t>
            </a:r>
            <a:r>
              <a:rPr dirty="0" sz="1250" spc="-6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250" spc="-70" b="1">
                <a:solidFill>
                  <a:srgbClr val="1A1A1A"/>
                </a:solidFill>
                <a:latin typeface="Arial"/>
                <a:cs typeface="Arial"/>
              </a:rPr>
              <a:t>problem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62935" y="1603187"/>
            <a:ext cx="1531620" cy="17176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500" spc="-20">
                <a:solidFill>
                  <a:srgbClr val="1A1A1A"/>
                </a:solidFill>
                <a:latin typeface="Arial Black"/>
                <a:cs typeface="Arial Black"/>
              </a:rPr>
              <a:t>Cost</a:t>
            </a:r>
            <a:endParaRPr sz="1500">
              <a:latin typeface="Arial Black"/>
              <a:cs typeface="Arial Black"/>
            </a:endParaRPr>
          </a:p>
          <a:p>
            <a:pPr algn="ctr" marL="12700" marR="5080" indent="-635">
              <a:lnSpc>
                <a:spcPct val="119100"/>
              </a:lnSpc>
              <a:spcBef>
                <a:spcPts val="1630"/>
              </a:spcBef>
            </a:pP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Each</a:t>
            </a:r>
            <a:r>
              <a:rPr dirty="0" sz="115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move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has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a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uniform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5">
                <a:solidFill>
                  <a:srgbClr val="1A1A1A"/>
                </a:solidFill>
                <a:latin typeface="Lucida Sans Unicode"/>
                <a:cs typeface="Lucida Sans Unicode"/>
              </a:rPr>
              <a:t>cost,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0">
                <a:solidFill>
                  <a:srgbClr val="1A1A1A"/>
                </a:solidFill>
                <a:latin typeface="Lucida Sans Unicode"/>
                <a:cs typeface="Lucida Sans Unicode"/>
              </a:rPr>
              <a:t>typically </a:t>
            </a:r>
            <a:r>
              <a:rPr dirty="0" sz="1150" spc="-80">
                <a:solidFill>
                  <a:srgbClr val="1A1A1A"/>
                </a:solidFill>
                <a:latin typeface="Lucida Sans Unicode"/>
                <a:cs typeface="Lucida Sans Unicode"/>
              </a:rPr>
              <a:t>1</a:t>
            </a:r>
            <a:r>
              <a:rPr dirty="0" sz="115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per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0">
                <a:solidFill>
                  <a:srgbClr val="1A1A1A"/>
                </a:solidFill>
                <a:latin typeface="Lucida Sans Unicode"/>
                <a:cs typeface="Lucida Sans Unicode"/>
              </a:rPr>
              <a:t>move,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making </a:t>
            </a:r>
            <a:r>
              <a:rPr dirty="0" sz="1150" spc="-35">
                <a:solidFill>
                  <a:srgbClr val="1A1A1A"/>
                </a:solidFill>
                <a:latin typeface="Lucida Sans Unicode"/>
                <a:cs typeface="Lucida Sans Unicode"/>
              </a:rPr>
              <a:t>this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>
                <a:solidFill>
                  <a:srgbClr val="1A1A1A"/>
                </a:solidFill>
                <a:latin typeface="Lucida Sans Unicode"/>
                <a:cs typeface="Lucida Sans Unicode"/>
              </a:rPr>
              <a:t>an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instance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0">
                <a:solidFill>
                  <a:srgbClr val="1A1A1A"/>
                </a:solidFill>
                <a:latin typeface="Lucida Sans Unicode"/>
                <a:cs typeface="Lucida Sans Unicode"/>
              </a:rPr>
              <a:t>of</a:t>
            </a:r>
            <a:r>
              <a:rPr dirty="0" sz="1150" spc="-50">
                <a:solidFill>
                  <a:srgbClr val="1A1A1A"/>
                </a:solidFill>
                <a:latin typeface="Lucida Sans Unicode"/>
                <a:cs typeface="Lucida Sans Unicode"/>
              </a:rPr>
              <a:t> a </a:t>
            </a:r>
            <a:r>
              <a:rPr dirty="0" sz="1150" spc="-20">
                <a:solidFill>
                  <a:srgbClr val="1A1A1A"/>
                </a:solidFill>
                <a:latin typeface="Lucida Sans Unicode"/>
                <a:cs typeface="Lucida Sans Unicode"/>
              </a:rPr>
              <a:t>uniform</a:t>
            </a:r>
            <a:r>
              <a:rPr dirty="0" sz="115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0">
                <a:solidFill>
                  <a:srgbClr val="1A1A1A"/>
                </a:solidFill>
                <a:latin typeface="Lucida Sans Unicode"/>
                <a:cs typeface="Lucida Sans Unicode"/>
              </a:rPr>
              <a:t>cost</a:t>
            </a:r>
            <a:r>
              <a:rPr dirty="0" sz="115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Lucida Sans Unicode"/>
                <a:cs typeface="Lucida Sans Unicode"/>
              </a:rPr>
              <a:t>search problem.</a:t>
            </a:r>
            <a:endParaRPr sz="1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-175"/>
              <a:t>Sol</a:t>
            </a:r>
            <a:r>
              <a:rPr dirty="0" sz="2550" spc="-175">
                <a:latin typeface="Trebuchet MS"/>
                <a:cs typeface="Trebuchet MS"/>
              </a:rPr>
              <a:t>v</a:t>
            </a:r>
            <a:r>
              <a:rPr dirty="0" spc="-175"/>
              <a:t>e</a:t>
            </a:r>
            <a:r>
              <a:rPr dirty="0" spc="-190"/>
              <a:t> </a:t>
            </a:r>
            <a:r>
              <a:rPr dirty="0" spc="-175"/>
              <a:t>Problem</a:t>
            </a:r>
            <a:r>
              <a:rPr dirty="0" spc="-235"/>
              <a:t> </a:t>
            </a:r>
            <a:r>
              <a:rPr dirty="0" sz="2550" spc="-90">
                <a:latin typeface="Trebuchet MS"/>
                <a:cs typeface="Trebuchet MS"/>
              </a:rPr>
              <a:t>w</a:t>
            </a:r>
            <a:r>
              <a:rPr dirty="0" spc="-90"/>
              <a:t>i</a:t>
            </a:r>
            <a:r>
              <a:rPr dirty="0" sz="2550" spc="-90">
                <a:latin typeface="Trebuchet MS"/>
                <a:cs typeface="Trebuchet MS"/>
              </a:rPr>
              <a:t>t</a:t>
            </a:r>
            <a:r>
              <a:rPr dirty="0" spc="-90"/>
              <a:t>h</a:t>
            </a:r>
            <a:r>
              <a:rPr dirty="0" spc="-185"/>
              <a:t> </a:t>
            </a:r>
            <a:r>
              <a:rPr dirty="0" spc="-355"/>
              <a:t>BFS</a:t>
            </a:r>
            <a:endParaRPr sz="255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94987" y="-4056"/>
            <a:ext cx="3829685" cy="4516120"/>
            <a:chOff x="4194987" y="-4056"/>
            <a:chExt cx="3829685" cy="45161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9044" y="0"/>
              <a:ext cx="3821009" cy="450799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199044" y="0"/>
              <a:ext cx="3821429" cy="4508500"/>
            </a:xfrm>
            <a:custGeom>
              <a:avLst/>
              <a:gdLst/>
              <a:ahLst/>
              <a:cxnLst/>
              <a:rect l="l" t="t" r="r" b="b"/>
              <a:pathLst>
                <a:path w="3821429" h="4508500">
                  <a:moveTo>
                    <a:pt x="0" y="4507991"/>
                  </a:moveTo>
                  <a:lnTo>
                    <a:pt x="0" y="0"/>
                  </a:lnTo>
                  <a:lnTo>
                    <a:pt x="3821005" y="0"/>
                  </a:lnTo>
                  <a:lnTo>
                    <a:pt x="3821009" y="4507991"/>
                  </a:lnTo>
                </a:path>
              </a:pathLst>
            </a:custGeom>
            <a:ln w="81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69708" y="1060675"/>
            <a:ext cx="3437890" cy="23126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400" spc="-200">
                <a:solidFill>
                  <a:srgbClr val="1A1A1A"/>
                </a:solidFill>
                <a:latin typeface="Arial Black"/>
                <a:cs typeface="Arial Black"/>
              </a:rPr>
              <a:t>BFS</a:t>
            </a:r>
            <a:r>
              <a:rPr dirty="0" sz="1400" spc="-9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40">
                <a:solidFill>
                  <a:srgbClr val="1A1A1A"/>
                </a:solidFill>
                <a:latin typeface="Lucida Sans Unicode"/>
                <a:cs typeface="Lucida Sans Unicode"/>
              </a:rPr>
              <a:t>explores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puzzle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states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level</a:t>
            </a:r>
            <a:r>
              <a:rPr dirty="0" sz="1400" spc="-9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by</a:t>
            </a:r>
            <a:r>
              <a:rPr dirty="0" sz="1400" spc="-9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Arial Black"/>
                <a:cs typeface="Arial Black"/>
              </a:rPr>
              <a:t>level</a:t>
            </a:r>
            <a:endParaRPr sz="1400">
              <a:latin typeface="Arial Black"/>
              <a:cs typeface="Arial Black"/>
            </a:endParaRPr>
          </a:p>
          <a:p>
            <a:pPr marL="12700" marR="709295">
              <a:lnSpc>
                <a:spcPct val="119100"/>
              </a:lnSpc>
            </a:pP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starting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from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initial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state. Each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state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represents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different arrangement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tiles.</a:t>
            </a:r>
            <a:endParaRPr sz="1400">
              <a:latin typeface="Lucida Sans Unicode"/>
              <a:cs typeface="Lucida Sans Unicode"/>
            </a:endParaRPr>
          </a:p>
          <a:p>
            <a:pPr marL="12700" marR="414020">
              <a:lnSpc>
                <a:spcPct val="119100"/>
              </a:lnSpc>
            </a:pP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Uses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queue</a:t>
            </a:r>
            <a:r>
              <a:rPr dirty="0" sz="1400" spc="-100">
                <a:solidFill>
                  <a:srgbClr val="1A1A1A"/>
                </a:solidFill>
                <a:latin typeface="Arial Black"/>
                <a:cs typeface="Arial Black"/>
              </a:rPr>
              <a:t> (FIFO)</a:t>
            </a:r>
            <a:r>
              <a:rPr dirty="0" sz="1400" spc="-9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store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states. </a:t>
            </a:r>
            <a:r>
              <a:rPr dirty="0" sz="1400" spc="-90">
                <a:solidFill>
                  <a:srgbClr val="1A1A1A"/>
                </a:solidFill>
                <a:latin typeface="Arial Black"/>
                <a:cs typeface="Arial Black"/>
              </a:rPr>
              <a:t>Guarantees</a:t>
            </a:r>
            <a:r>
              <a:rPr dirty="0" sz="1400" spc="-7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A1A1A"/>
                </a:solidFill>
                <a:latin typeface="Arial Black"/>
                <a:cs typeface="Arial Black"/>
              </a:rPr>
              <a:t>the</a:t>
            </a:r>
            <a:r>
              <a:rPr dirty="0" sz="1400" spc="-7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shortest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Arial Black"/>
                <a:cs typeface="Arial Black"/>
              </a:rPr>
              <a:t>solution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(minimum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number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moves).</a:t>
            </a:r>
            <a:endParaRPr sz="1400">
              <a:latin typeface="Lucida Sans Unicode"/>
              <a:cs typeface="Lucida Sans Unicode"/>
            </a:endParaRPr>
          </a:p>
          <a:p>
            <a:pPr marL="12700" marR="5080">
              <a:lnSpc>
                <a:spcPct val="119100"/>
              </a:lnSpc>
            </a:pP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Disadvantage:</a:t>
            </a:r>
            <a:r>
              <a:rPr dirty="0" sz="1400" spc="-5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35">
                <a:solidFill>
                  <a:srgbClr val="1A1A1A"/>
                </a:solidFill>
                <a:latin typeface="Lucida Sans Unicode"/>
                <a:cs typeface="Lucida Sans Unicode"/>
              </a:rPr>
              <a:t>Consumes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large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memory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because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1A1A1A"/>
                </a:solidFill>
                <a:latin typeface="Lucida Sans Unicode"/>
                <a:cs typeface="Lucida Sans Unicode"/>
              </a:rPr>
              <a:t>it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stores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many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puzzle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states.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97062" y="1228381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4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97062" y="1736599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97062" y="2244816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97062" y="2498924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97062" y="3007142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-175"/>
              <a:t>Sol</a:t>
            </a:r>
            <a:r>
              <a:rPr dirty="0" sz="2550" spc="-175">
                <a:latin typeface="Trebuchet MS"/>
                <a:cs typeface="Trebuchet MS"/>
              </a:rPr>
              <a:t>v</a:t>
            </a:r>
            <a:r>
              <a:rPr dirty="0" spc="-175"/>
              <a:t>e</a:t>
            </a:r>
            <a:r>
              <a:rPr dirty="0" spc="-190"/>
              <a:t> </a:t>
            </a:r>
            <a:r>
              <a:rPr dirty="0" spc="-175"/>
              <a:t>Problem</a:t>
            </a:r>
            <a:r>
              <a:rPr dirty="0" spc="-235"/>
              <a:t> </a:t>
            </a:r>
            <a:r>
              <a:rPr dirty="0" sz="2550" spc="-90">
                <a:latin typeface="Trebuchet MS"/>
                <a:cs typeface="Trebuchet MS"/>
              </a:rPr>
              <a:t>w</a:t>
            </a:r>
            <a:r>
              <a:rPr dirty="0" spc="-90"/>
              <a:t>i</a:t>
            </a:r>
            <a:r>
              <a:rPr dirty="0" sz="2550" spc="-90">
                <a:latin typeface="Trebuchet MS"/>
                <a:cs typeface="Trebuchet MS"/>
              </a:rPr>
              <a:t>t</a:t>
            </a:r>
            <a:r>
              <a:rPr dirty="0" spc="-90"/>
              <a:t>h</a:t>
            </a:r>
            <a:r>
              <a:rPr dirty="0" spc="-185"/>
              <a:t> </a:t>
            </a:r>
            <a:r>
              <a:rPr dirty="0" spc="-325"/>
              <a:t>GBFS</a:t>
            </a:r>
            <a:endParaRPr sz="255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94987" y="-4056"/>
            <a:ext cx="3829685" cy="4516120"/>
            <a:chOff x="4194987" y="-4056"/>
            <a:chExt cx="3829685" cy="45161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9044" y="0"/>
              <a:ext cx="3821009" cy="450799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199044" y="0"/>
              <a:ext cx="3821429" cy="4508500"/>
            </a:xfrm>
            <a:custGeom>
              <a:avLst/>
              <a:gdLst/>
              <a:ahLst/>
              <a:cxnLst/>
              <a:rect l="l" t="t" r="r" b="b"/>
              <a:pathLst>
                <a:path w="3821429" h="4508500">
                  <a:moveTo>
                    <a:pt x="0" y="4507991"/>
                  </a:moveTo>
                  <a:lnTo>
                    <a:pt x="0" y="0"/>
                  </a:lnTo>
                  <a:lnTo>
                    <a:pt x="3821005" y="0"/>
                  </a:lnTo>
                  <a:lnTo>
                    <a:pt x="3821009" y="4507991"/>
                  </a:lnTo>
                </a:path>
              </a:pathLst>
            </a:custGeom>
            <a:ln w="81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69708" y="969922"/>
            <a:ext cx="3484879" cy="2820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100"/>
              </a:lnSpc>
              <a:spcBef>
                <a:spcPts val="100"/>
              </a:spcBef>
            </a:pPr>
            <a:r>
              <a:rPr dirty="0" sz="1400" spc="-190">
                <a:solidFill>
                  <a:srgbClr val="1A1A1A"/>
                </a:solidFill>
                <a:latin typeface="Arial Black"/>
                <a:cs typeface="Arial Black"/>
              </a:rPr>
              <a:t>GBFS</a:t>
            </a:r>
            <a:r>
              <a:rPr dirty="0" sz="1400" spc="-10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selects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1A1A1A"/>
                </a:solidFill>
                <a:latin typeface="Lucida Sans Unicode"/>
                <a:cs typeface="Lucida Sans Unicode"/>
              </a:rPr>
              <a:t>next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state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based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only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on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heuristic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value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Arial Black"/>
                <a:cs typeface="Arial Black"/>
              </a:rPr>
              <a:t>h(n)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Always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1A1A1A"/>
                </a:solidFill>
                <a:latin typeface="Lucida Sans Unicode"/>
                <a:cs typeface="Lucida Sans Unicode"/>
              </a:rPr>
              <a:t>expands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state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that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appears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400" spc="-120">
                <a:solidFill>
                  <a:srgbClr val="1A1A1A"/>
                </a:solidFill>
                <a:latin typeface="Arial Black"/>
                <a:cs typeface="Arial Black"/>
              </a:rPr>
              <a:t>closest</a:t>
            </a: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A1A1A"/>
                </a:solidFill>
                <a:latin typeface="Arial Black"/>
                <a:cs typeface="Arial Black"/>
              </a:rPr>
              <a:t>to</a:t>
            </a:r>
            <a:r>
              <a:rPr dirty="0" sz="1400" spc="-8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A1A1A"/>
                </a:solidFill>
                <a:latin typeface="Arial Black"/>
                <a:cs typeface="Arial Black"/>
              </a:rPr>
              <a:t>the</a:t>
            </a:r>
            <a:r>
              <a:rPr dirty="0" sz="1400" spc="-8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Arial Black"/>
                <a:cs typeface="Arial Black"/>
              </a:rPr>
              <a:t>goal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327025">
              <a:lnSpc>
                <a:spcPct val="119100"/>
              </a:lnSpc>
            </a:pP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Uses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1A1A1A"/>
                </a:solidFill>
                <a:latin typeface="Arial Black"/>
                <a:cs typeface="Arial Black"/>
              </a:rPr>
              <a:t>priority</a:t>
            </a:r>
            <a:r>
              <a:rPr dirty="0" sz="1400" spc="-9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queue</a:t>
            </a: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ordered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1A1A1A"/>
                </a:solidFill>
                <a:latin typeface="Lucida Sans Unicode"/>
                <a:cs typeface="Lucida Sans Unicode"/>
              </a:rPr>
              <a:t>by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the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heuristic.</a:t>
            </a:r>
            <a:endParaRPr sz="1400">
              <a:latin typeface="Lucida Sans Unicode"/>
              <a:cs typeface="Lucida Sans Unicode"/>
            </a:endParaRPr>
          </a:p>
          <a:p>
            <a:pPr marL="12700" marR="396240">
              <a:lnSpc>
                <a:spcPct val="119100"/>
              </a:lnSpc>
            </a:pPr>
            <a:r>
              <a:rPr dirty="0" sz="1400" spc="-80">
                <a:solidFill>
                  <a:srgbClr val="1A1A1A"/>
                </a:solidFill>
                <a:latin typeface="Arial Black"/>
                <a:cs typeface="Arial Black"/>
              </a:rPr>
              <a:t>Advantage:</a:t>
            </a: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Faster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than</a:t>
            </a:r>
            <a:r>
              <a:rPr dirty="0" sz="140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BFS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many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cases.</a:t>
            </a:r>
            <a:endParaRPr sz="1400">
              <a:latin typeface="Lucida Sans Unicode"/>
              <a:cs typeface="Lucida Sans Unicode"/>
            </a:endParaRPr>
          </a:p>
          <a:p>
            <a:pPr marL="12700" marR="65405">
              <a:lnSpc>
                <a:spcPct val="119100"/>
              </a:lnSpc>
            </a:pP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Disadvantage: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Does</a:t>
            </a:r>
            <a:r>
              <a:rPr dirty="0" sz="1400" spc="-3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5">
                <a:solidFill>
                  <a:srgbClr val="1A1A1A"/>
                </a:solidFill>
                <a:latin typeface="Arial Black"/>
                <a:cs typeface="Arial Black"/>
              </a:rPr>
              <a:t>not</a:t>
            </a:r>
            <a:r>
              <a:rPr dirty="0" sz="1400" spc="-6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guarantee</a:t>
            </a:r>
            <a:r>
              <a:rPr dirty="0" sz="1400" spc="-6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Arial Black"/>
                <a:cs typeface="Arial Black"/>
              </a:rPr>
              <a:t>the 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shortest</a:t>
            </a:r>
            <a:r>
              <a:rPr dirty="0" sz="1400" spc="-10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solution</a:t>
            </a:r>
            <a:r>
              <a:rPr dirty="0" sz="1400" spc="-9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and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may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get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1A1A1A"/>
                </a:solidFill>
                <a:latin typeface="Lucida Sans Unicode"/>
                <a:cs typeface="Lucida Sans Unicode"/>
              </a:rPr>
              <a:t>stuck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in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local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minima.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97062" y="1137629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4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97062" y="1645846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97062" y="2154063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97062" y="2662281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97062" y="3170498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674" y="146383"/>
            <a:ext cx="3463290" cy="44704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-175"/>
              <a:t>Sol</a:t>
            </a:r>
            <a:r>
              <a:rPr dirty="0" sz="2550" spc="-175">
                <a:latin typeface="Trebuchet MS"/>
                <a:cs typeface="Trebuchet MS"/>
              </a:rPr>
              <a:t>v</a:t>
            </a:r>
            <a:r>
              <a:rPr dirty="0" spc="-175"/>
              <a:t>e</a:t>
            </a:r>
            <a:r>
              <a:rPr dirty="0" spc="-190"/>
              <a:t> </a:t>
            </a:r>
            <a:r>
              <a:rPr dirty="0" spc="-175"/>
              <a:t>Problem</a:t>
            </a:r>
            <a:r>
              <a:rPr dirty="0" spc="-235"/>
              <a:t> </a:t>
            </a:r>
            <a:r>
              <a:rPr dirty="0" sz="2550" spc="-90">
                <a:latin typeface="Trebuchet MS"/>
                <a:cs typeface="Trebuchet MS"/>
              </a:rPr>
              <a:t>w</a:t>
            </a:r>
            <a:r>
              <a:rPr dirty="0" spc="-90"/>
              <a:t>i</a:t>
            </a:r>
            <a:r>
              <a:rPr dirty="0" sz="2550" spc="-90">
                <a:latin typeface="Trebuchet MS"/>
                <a:cs typeface="Trebuchet MS"/>
              </a:rPr>
              <a:t>t</a:t>
            </a:r>
            <a:r>
              <a:rPr dirty="0" spc="-90"/>
              <a:t>h</a:t>
            </a:r>
            <a:r>
              <a:rPr dirty="0" spc="-185"/>
              <a:t> </a:t>
            </a:r>
            <a:r>
              <a:rPr dirty="0" spc="-105"/>
              <a:t>IDS</a:t>
            </a:r>
            <a:endParaRPr sz="255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94987" y="-4056"/>
            <a:ext cx="3829685" cy="4516120"/>
            <a:chOff x="4194987" y="-4056"/>
            <a:chExt cx="3829685" cy="45161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9044" y="0"/>
              <a:ext cx="3821009" cy="450799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199044" y="0"/>
              <a:ext cx="3821429" cy="4508500"/>
            </a:xfrm>
            <a:custGeom>
              <a:avLst/>
              <a:gdLst/>
              <a:ahLst/>
              <a:cxnLst/>
              <a:rect l="l" t="t" r="r" b="b"/>
              <a:pathLst>
                <a:path w="3821429" h="4508500">
                  <a:moveTo>
                    <a:pt x="0" y="4507991"/>
                  </a:moveTo>
                  <a:lnTo>
                    <a:pt x="0" y="0"/>
                  </a:lnTo>
                  <a:lnTo>
                    <a:pt x="3821005" y="0"/>
                  </a:lnTo>
                  <a:lnTo>
                    <a:pt x="3821009" y="4507991"/>
                  </a:lnTo>
                </a:path>
              </a:pathLst>
            </a:custGeom>
            <a:ln w="81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95318" y="842849"/>
            <a:ext cx="3556000" cy="3075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5270">
              <a:lnSpc>
                <a:spcPct val="119100"/>
              </a:lnSpc>
              <a:spcBef>
                <a:spcPts val="100"/>
              </a:spcBef>
            </a:pPr>
            <a:r>
              <a:rPr dirty="0" sz="1400" spc="-114">
                <a:solidFill>
                  <a:srgbClr val="1A1A1A"/>
                </a:solidFill>
                <a:latin typeface="Arial Black"/>
                <a:cs typeface="Arial Black"/>
              </a:rPr>
              <a:t>IDS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(Iterative</a:t>
            </a:r>
            <a:r>
              <a:rPr dirty="0" sz="1400" spc="-7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Deepening </a:t>
            </a:r>
            <a:r>
              <a:rPr dirty="0" sz="1400" spc="-10">
                <a:solidFill>
                  <a:srgbClr val="1A1A1A"/>
                </a:solidFill>
                <a:latin typeface="Arial Black"/>
                <a:cs typeface="Arial Black"/>
              </a:rPr>
              <a:t>Search)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combines</a:t>
            </a:r>
            <a:r>
              <a:rPr dirty="0" sz="140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65">
                <a:solidFill>
                  <a:srgbClr val="1A1A1A"/>
                </a:solidFill>
                <a:latin typeface="Arial Black"/>
                <a:cs typeface="Arial Black"/>
              </a:rPr>
              <a:t>DFS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A1A1A"/>
                </a:solidFill>
                <a:latin typeface="Arial Black"/>
                <a:cs typeface="Arial Black"/>
              </a:rPr>
              <a:t>memory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95">
                <a:solidFill>
                  <a:srgbClr val="1A1A1A"/>
                </a:solidFill>
                <a:latin typeface="Arial Black"/>
                <a:cs typeface="Arial Black"/>
              </a:rPr>
              <a:t>efficiency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with </a:t>
            </a:r>
            <a:r>
              <a:rPr dirty="0" sz="1400" spc="-200">
                <a:solidFill>
                  <a:srgbClr val="1A1A1A"/>
                </a:solidFill>
                <a:latin typeface="Arial Black"/>
                <a:cs typeface="Arial Black"/>
              </a:rPr>
              <a:t>BFS</a:t>
            </a:r>
            <a:r>
              <a:rPr dirty="0" sz="1400" spc="-9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Arial Black"/>
                <a:cs typeface="Arial Black"/>
              </a:rPr>
              <a:t>optimality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Repeatedly</a:t>
            </a:r>
            <a:r>
              <a:rPr dirty="0" sz="140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applies</a:t>
            </a:r>
            <a:r>
              <a:rPr dirty="0" sz="140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1A1A1A"/>
                </a:solidFill>
                <a:latin typeface="Arial Black"/>
                <a:cs typeface="Arial Black"/>
              </a:rPr>
              <a:t>Depth-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Limited</a:t>
            </a:r>
            <a:r>
              <a:rPr dirty="0" sz="1400" spc="-7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95">
                <a:solidFill>
                  <a:srgbClr val="1A1A1A"/>
                </a:solidFill>
                <a:latin typeface="Arial Black"/>
                <a:cs typeface="Arial Black"/>
              </a:rPr>
              <a:t>Search</a:t>
            </a:r>
            <a:endParaRPr sz="1400">
              <a:latin typeface="Arial Black"/>
              <a:cs typeface="Arial Black"/>
            </a:endParaRPr>
          </a:p>
          <a:p>
            <a:pPr marL="12700" marR="447675">
              <a:lnSpc>
                <a:spcPct val="119100"/>
              </a:lnSpc>
            </a:pP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with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increasing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depth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limits. </a:t>
            </a:r>
            <a:r>
              <a:rPr dirty="0" sz="1400" spc="-35">
                <a:solidFill>
                  <a:srgbClr val="1A1A1A"/>
                </a:solidFill>
                <a:latin typeface="Lucida Sans Unicode"/>
                <a:cs typeface="Lucida Sans Unicode"/>
              </a:rPr>
              <a:t>Explores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puzzle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states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up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certain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depth,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then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increases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limit.</a:t>
            </a:r>
            <a:endParaRPr sz="1400">
              <a:latin typeface="Lucida Sans Unicode"/>
              <a:cs typeface="Lucida Sans Unicode"/>
            </a:endParaRPr>
          </a:p>
          <a:p>
            <a:pPr marL="12700" marR="94615">
              <a:lnSpc>
                <a:spcPct val="119100"/>
              </a:lnSpc>
            </a:pPr>
            <a:r>
              <a:rPr dirty="0" sz="1400" spc="-90">
                <a:solidFill>
                  <a:srgbClr val="1A1A1A"/>
                </a:solidFill>
                <a:latin typeface="Arial Black"/>
                <a:cs typeface="Arial Black"/>
              </a:rPr>
              <a:t>Guarantees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A1A1A"/>
                </a:solidFill>
                <a:latin typeface="Arial Black"/>
                <a:cs typeface="Arial Black"/>
              </a:rPr>
              <a:t>the</a:t>
            </a:r>
            <a:r>
              <a:rPr dirty="0" sz="1400" spc="-6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shortest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 solution</a:t>
            </a:r>
            <a:r>
              <a:rPr dirty="0" sz="1400" spc="-6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when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all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moves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have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equal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cost.</a:t>
            </a:r>
            <a:endParaRPr sz="1400">
              <a:latin typeface="Lucida Sans Unicode"/>
              <a:cs typeface="Lucida Sans Unicode"/>
            </a:endParaRPr>
          </a:p>
          <a:p>
            <a:pPr marL="12700" marR="43180">
              <a:lnSpc>
                <a:spcPct val="119100"/>
              </a:lnSpc>
            </a:pPr>
            <a:r>
              <a:rPr dirty="0" sz="1400" spc="-80">
                <a:solidFill>
                  <a:srgbClr val="1A1A1A"/>
                </a:solidFill>
                <a:latin typeface="Arial Black"/>
                <a:cs typeface="Arial Black"/>
              </a:rPr>
              <a:t>Advantage:</a:t>
            </a:r>
            <a:r>
              <a:rPr dirty="0" sz="1400" spc="-10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Uses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less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memory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than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BFS. </a:t>
            </a: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Disadvantage:</a:t>
            </a:r>
            <a:r>
              <a:rPr dirty="0" sz="1400" spc="-7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Repeats</a:t>
            </a:r>
            <a:r>
              <a:rPr dirty="0" sz="140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node</a:t>
            </a:r>
            <a:r>
              <a:rPr dirty="0" sz="1400" spc="-4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expansions,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which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increases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time.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22671" y="1010556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4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22671" y="1772882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22671" y="2281099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22671" y="2789316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22671" y="3297534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22671" y="3551643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674" y="146383"/>
            <a:ext cx="3295015" cy="44704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-175"/>
              <a:t>Sol</a:t>
            </a:r>
            <a:r>
              <a:rPr dirty="0" sz="2550" spc="-175">
                <a:latin typeface="Trebuchet MS"/>
                <a:cs typeface="Trebuchet MS"/>
              </a:rPr>
              <a:t>v</a:t>
            </a:r>
            <a:r>
              <a:rPr dirty="0" spc="-175"/>
              <a:t>e </a:t>
            </a:r>
            <a:r>
              <a:rPr dirty="0" spc="-170"/>
              <a:t>Problem</a:t>
            </a:r>
            <a:r>
              <a:rPr dirty="0" spc="-225"/>
              <a:t> </a:t>
            </a:r>
            <a:r>
              <a:rPr dirty="0" sz="2550" spc="-90">
                <a:latin typeface="Trebuchet MS"/>
                <a:cs typeface="Trebuchet MS"/>
              </a:rPr>
              <a:t>w</a:t>
            </a:r>
            <a:r>
              <a:rPr dirty="0" spc="-90"/>
              <a:t>i</a:t>
            </a:r>
            <a:r>
              <a:rPr dirty="0" sz="2550" spc="-90">
                <a:latin typeface="Trebuchet MS"/>
                <a:cs typeface="Trebuchet MS"/>
              </a:rPr>
              <a:t>t</a:t>
            </a:r>
            <a:r>
              <a:rPr dirty="0" spc="-90"/>
              <a:t>h</a:t>
            </a:r>
            <a:r>
              <a:rPr dirty="0" spc="-260"/>
              <a:t> </a:t>
            </a:r>
            <a:r>
              <a:rPr dirty="0" spc="-105"/>
              <a:t>A</a:t>
            </a:r>
            <a:r>
              <a:rPr dirty="0" sz="2650" spc="-105">
                <a:latin typeface="Cambria"/>
                <a:cs typeface="Cambria"/>
              </a:rPr>
              <a:t>*</a:t>
            </a:r>
            <a:endParaRPr sz="2650">
              <a:latin typeface="Cambria"/>
              <a:cs typeface="Cambr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94987" y="-4056"/>
            <a:ext cx="3829685" cy="4516120"/>
            <a:chOff x="4194987" y="-4056"/>
            <a:chExt cx="3829685" cy="45161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9044" y="0"/>
              <a:ext cx="3821009" cy="450799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199044" y="0"/>
              <a:ext cx="3821429" cy="4508500"/>
            </a:xfrm>
            <a:custGeom>
              <a:avLst/>
              <a:gdLst/>
              <a:ahLst/>
              <a:cxnLst/>
              <a:rect l="l" t="t" r="r" b="b"/>
              <a:pathLst>
                <a:path w="3821429" h="4508500">
                  <a:moveTo>
                    <a:pt x="0" y="4507991"/>
                  </a:moveTo>
                  <a:lnTo>
                    <a:pt x="0" y="0"/>
                  </a:lnTo>
                  <a:lnTo>
                    <a:pt x="3821005" y="0"/>
                  </a:lnTo>
                  <a:lnTo>
                    <a:pt x="3821009" y="4507991"/>
                  </a:lnTo>
                </a:path>
              </a:pathLst>
            </a:custGeom>
            <a:ln w="81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69708" y="715777"/>
            <a:ext cx="3535679" cy="33293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358775">
              <a:lnSpc>
                <a:spcPct val="119100"/>
              </a:lnSpc>
              <a:spcBef>
                <a:spcPts val="100"/>
              </a:spcBef>
            </a:pPr>
            <a:r>
              <a:rPr dirty="0" sz="1400" spc="-145">
                <a:solidFill>
                  <a:srgbClr val="1A1A1A"/>
                </a:solidFill>
                <a:latin typeface="Arial Black"/>
                <a:cs typeface="Arial Black"/>
              </a:rPr>
              <a:t>A*</a:t>
            </a:r>
            <a:r>
              <a:rPr dirty="0" sz="1400" spc="2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A1A1A"/>
                </a:solidFill>
                <a:latin typeface="Lucida Sans Unicode"/>
                <a:cs typeface="Lucida Sans Unicode"/>
              </a:rPr>
              <a:t>is</a:t>
            </a:r>
            <a:r>
              <a:rPr dirty="0" sz="1400" spc="-5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11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heuristic</a:t>
            </a:r>
            <a:r>
              <a:rPr dirty="0" sz="1400" spc="-4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search</a:t>
            </a:r>
            <a:r>
              <a:rPr dirty="0" sz="1400" spc="-3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algorithm</a:t>
            </a:r>
            <a:r>
              <a:rPr dirty="0" sz="1400" spc="-4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that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selects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most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promising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state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first. 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It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uses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evaluation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function:</a:t>
            </a:r>
            <a:endParaRPr sz="140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320"/>
              </a:spcBef>
            </a:pPr>
            <a:r>
              <a:rPr dirty="0" sz="1400" spc="-55">
                <a:solidFill>
                  <a:srgbClr val="1A1A1A"/>
                </a:solidFill>
                <a:latin typeface="Arial Black"/>
                <a:cs typeface="Arial Black"/>
              </a:rPr>
              <a:t>f(n)</a:t>
            </a:r>
            <a:r>
              <a:rPr dirty="0" sz="1400" spc="-10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35">
                <a:solidFill>
                  <a:srgbClr val="1A1A1A"/>
                </a:solidFill>
                <a:latin typeface="Arial Black"/>
                <a:cs typeface="Arial Black"/>
              </a:rPr>
              <a:t>=</a:t>
            </a:r>
            <a:r>
              <a:rPr dirty="0" sz="1400" spc="-9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g(n)</a:t>
            </a:r>
            <a:r>
              <a:rPr dirty="0" sz="1400" spc="-9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35">
                <a:solidFill>
                  <a:srgbClr val="1A1A1A"/>
                </a:solidFill>
                <a:latin typeface="Arial Black"/>
                <a:cs typeface="Arial Black"/>
              </a:rPr>
              <a:t>+</a:t>
            </a:r>
            <a:r>
              <a:rPr dirty="0" sz="1400" spc="-9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Arial Black"/>
                <a:cs typeface="Arial Black"/>
              </a:rPr>
              <a:t>h(n)</a:t>
            </a:r>
            <a:endParaRPr sz="1400">
              <a:latin typeface="Arial Black"/>
              <a:cs typeface="Arial Black"/>
            </a:endParaRPr>
          </a:p>
          <a:p>
            <a:pPr marL="12700" marR="387350">
              <a:lnSpc>
                <a:spcPct val="119100"/>
              </a:lnSpc>
            </a:pPr>
            <a:r>
              <a:rPr dirty="0" sz="1400" spc="-70">
                <a:solidFill>
                  <a:srgbClr val="1A1A1A"/>
                </a:solidFill>
                <a:latin typeface="Arial Black"/>
                <a:cs typeface="Arial Black"/>
              </a:rPr>
              <a:t>g(n):</a:t>
            </a:r>
            <a:r>
              <a:rPr dirty="0" sz="1400" spc="-9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A1A1A"/>
                </a:solidFill>
                <a:latin typeface="Lucida Sans Unicode"/>
                <a:cs typeface="Lucida Sans Unicode"/>
              </a:rPr>
              <a:t>Cost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from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start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current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state </a:t>
            </a:r>
            <a:r>
              <a:rPr dirty="0" sz="1400" spc="-65">
                <a:solidFill>
                  <a:srgbClr val="1A1A1A"/>
                </a:solidFill>
                <a:latin typeface="Arial Black"/>
                <a:cs typeface="Arial Black"/>
              </a:rPr>
              <a:t>h(n):</a:t>
            </a: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Estimated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1A1A1A"/>
                </a:solidFill>
                <a:latin typeface="Lucida Sans Unicode"/>
                <a:cs typeface="Lucida Sans Unicode"/>
              </a:rPr>
              <a:t>cost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reach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goal </a:t>
            </a: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Heuristic</a:t>
            </a:r>
            <a:r>
              <a:rPr dirty="0" sz="1400" spc="-3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10">
                <a:solidFill>
                  <a:srgbClr val="1A1A1A"/>
                </a:solidFill>
                <a:latin typeface="Arial Black"/>
                <a:cs typeface="Arial Black"/>
              </a:rPr>
              <a:t>Used:</a:t>
            </a:r>
            <a:r>
              <a:rPr dirty="0" sz="1400" spc="-3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i="1">
                <a:solidFill>
                  <a:srgbClr val="1A1A1A"/>
                </a:solidFill>
                <a:latin typeface="Trebuchet MS"/>
                <a:cs typeface="Trebuchet MS"/>
              </a:rPr>
              <a:t>Manhattan</a:t>
            </a:r>
            <a:r>
              <a:rPr dirty="0" sz="1400" spc="15" i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00" spc="-10" i="1">
                <a:solidFill>
                  <a:srgbClr val="1A1A1A"/>
                </a:solidFill>
                <a:latin typeface="Trebuchet MS"/>
                <a:cs typeface="Trebuchet MS"/>
              </a:rPr>
              <a:t>Distance</a:t>
            </a:r>
            <a:endParaRPr sz="1400">
              <a:latin typeface="Trebuchet MS"/>
              <a:cs typeface="Trebuchet MS"/>
            </a:endParaRPr>
          </a:p>
          <a:p>
            <a:pPr marL="545465" marR="219710">
              <a:lnSpc>
                <a:spcPct val="119100"/>
              </a:lnSpc>
            </a:pP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Sum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grid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distances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each</a:t>
            </a:r>
            <a:r>
              <a:rPr dirty="0" sz="1400" spc="-8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tile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from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1A1A1A"/>
                </a:solidFill>
                <a:latin typeface="Lucida Sans Unicode"/>
                <a:cs typeface="Lucida Sans Unicode"/>
              </a:rPr>
              <a:t>its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goal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position.</a:t>
            </a:r>
            <a:endParaRPr sz="1400">
              <a:latin typeface="Lucida Sans Unicode"/>
              <a:cs typeface="Lucida Sans Unicode"/>
            </a:endParaRPr>
          </a:p>
          <a:p>
            <a:pPr marL="12700" marR="5080">
              <a:lnSpc>
                <a:spcPct val="119100"/>
              </a:lnSpc>
            </a:pPr>
            <a:r>
              <a:rPr dirty="0" sz="1400" spc="-80">
                <a:solidFill>
                  <a:srgbClr val="1A1A1A"/>
                </a:solidFill>
                <a:latin typeface="Arial Black"/>
                <a:cs typeface="Arial Black"/>
              </a:rPr>
              <a:t>Advantage:</a:t>
            </a: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Guarantees</a:t>
            </a:r>
            <a:r>
              <a:rPr dirty="0" sz="140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5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shortest</a:t>
            </a:r>
            <a:r>
              <a:rPr dirty="0" sz="1400" spc="-6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path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with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an</a:t>
            </a:r>
            <a:r>
              <a:rPr dirty="0" sz="1400" spc="-7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admissible</a:t>
            </a:r>
            <a:r>
              <a:rPr dirty="0" sz="1400" spc="-6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heuristic.</a:t>
            </a:r>
            <a:endParaRPr sz="1400">
              <a:latin typeface="Lucida Sans Unicode"/>
              <a:cs typeface="Lucida Sans Unicode"/>
            </a:endParaRPr>
          </a:p>
          <a:p>
            <a:pPr marL="12700" marR="84455">
              <a:lnSpc>
                <a:spcPct val="119100"/>
              </a:lnSpc>
            </a:pPr>
            <a:r>
              <a:rPr dirty="0" sz="1400" spc="-85">
                <a:solidFill>
                  <a:srgbClr val="1A1A1A"/>
                </a:solidFill>
                <a:latin typeface="Arial Black"/>
                <a:cs typeface="Arial Black"/>
              </a:rPr>
              <a:t>Disadvantage:</a:t>
            </a:r>
            <a:r>
              <a:rPr dirty="0" sz="1400" spc="-3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1400" spc="-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1A1A1A"/>
                </a:solidFill>
                <a:latin typeface="Lucida Sans Unicode"/>
                <a:cs typeface="Lucida Sans Unicode"/>
              </a:rPr>
              <a:t>depends</a:t>
            </a:r>
            <a:r>
              <a:rPr dirty="0" sz="140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1A1A1A"/>
                </a:solidFill>
                <a:latin typeface="Lucida Sans Unicode"/>
                <a:cs typeface="Lucida Sans Unicode"/>
              </a:rPr>
              <a:t>on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1A1A1A"/>
                </a:solidFill>
                <a:latin typeface="Lucida Sans Unicode"/>
                <a:cs typeface="Lucida Sans Unicode"/>
              </a:rPr>
              <a:t>quality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1A1A1A"/>
                </a:solidFill>
                <a:latin typeface="Lucida Sans Unicode"/>
                <a:cs typeface="Lucida Sans Unicode"/>
              </a:rPr>
              <a:t>of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the</a:t>
            </a:r>
            <a:r>
              <a:rPr dirty="0" sz="1400" spc="-75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1A1A1A"/>
                </a:solidFill>
                <a:latin typeface="Lucida Sans Unicode"/>
                <a:cs typeface="Lucida Sans Unicode"/>
              </a:rPr>
              <a:t>heuristic.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97062" y="883482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4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97062" y="1391700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4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97062" y="1899917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97062" y="2154026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97062" y="2408135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30250" y="2662243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97062" y="3170461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97062" y="3678678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8756" y="50821"/>
                </a:moveTo>
                <a:lnTo>
                  <a:pt x="22023" y="50821"/>
                </a:lnTo>
                <a:lnTo>
                  <a:pt x="18784" y="50176"/>
                </a:lnTo>
                <a:lnTo>
                  <a:pt x="0" y="28780"/>
                </a:lnTo>
                <a:lnTo>
                  <a:pt x="0" y="22041"/>
                </a:lnTo>
                <a:lnTo>
                  <a:pt x="22023" y="0"/>
                </a:lnTo>
                <a:lnTo>
                  <a:pt x="28756" y="0"/>
                </a:lnTo>
                <a:lnTo>
                  <a:pt x="50779" y="25410"/>
                </a:lnTo>
                <a:lnTo>
                  <a:pt x="50779" y="28780"/>
                </a:lnTo>
                <a:lnTo>
                  <a:pt x="28756" y="5082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302" y="324266"/>
            <a:ext cx="1877695" cy="44704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-145">
                <a:solidFill>
                  <a:srgbClr val="1A1A1A"/>
                </a:solidFill>
              </a:rPr>
              <a:t>Comparison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46504" y="869273"/>
          <a:ext cx="7217409" cy="3227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7480"/>
                <a:gridCol w="1427480"/>
                <a:gridCol w="1427480"/>
                <a:gridCol w="1427479"/>
                <a:gridCol w="1427479"/>
              </a:tblGrid>
              <a:tr h="421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  <a:solidFill>
                      <a:srgbClr val="2DC75C">
                        <a:alpha val="6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50" spc="-30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BFS</a:t>
                      </a:r>
                      <a:endParaRPr sz="2050">
                        <a:latin typeface="Arial Black"/>
                        <a:cs typeface="Arial Black"/>
                      </a:endParaRPr>
                    </a:p>
                  </a:txBody>
                  <a:tcPr marL="0" marR="0" marB="0" marT="3175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  <a:solidFill>
                      <a:srgbClr val="2DC75C">
                        <a:alpha val="6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50" spc="-29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GBFS</a:t>
                      </a:r>
                      <a:endParaRPr sz="2050">
                        <a:latin typeface="Arial Black"/>
                        <a:cs typeface="Arial Black"/>
                      </a:endParaRPr>
                    </a:p>
                  </a:txBody>
                  <a:tcPr marL="0" marR="0" marB="0" marT="3175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  <a:solidFill>
                      <a:srgbClr val="2DC75C">
                        <a:alpha val="6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50" spc="-2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IDS</a:t>
                      </a:r>
                      <a:endParaRPr sz="2050">
                        <a:latin typeface="Arial Black"/>
                        <a:cs typeface="Arial Black"/>
                      </a:endParaRPr>
                    </a:p>
                  </a:txBody>
                  <a:tcPr marL="0" marR="0" marB="0" marT="3175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  <a:solidFill>
                      <a:srgbClr val="2DC75C">
                        <a:alpha val="6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50" spc="-2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A*</a:t>
                      </a:r>
                      <a:endParaRPr sz="2050">
                        <a:latin typeface="Arial Black"/>
                        <a:cs typeface="Arial Black"/>
                      </a:endParaRPr>
                    </a:p>
                  </a:txBody>
                  <a:tcPr marL="0" marR="0" marB="0" marT="3175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  <a:solidFill>
                      <a:srgbClr val="2DC75C">
                        <a:alpha val="69999"/>
                      </a:srgbClr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Arial Black"/>
                          <a:cs typeface="Arial Black"/>
                        </a:rPr>
                        <a:t>Complete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Yes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No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Yes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Yes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Arial Black"/>
                          <a:cs typeface="Arial Black"/>
                        </a:rPr>
                        <a:t>Optimal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Yes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No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Yes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Yes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165100" marR="158115" indent="309245">
                        <a:lnSpc>
                          <a:spcPts val="2110"/>
                        </a:lnSpc>
                        <a:spcBef>
                          <a:spcPts val="100"/>
                        </a:spcBef>
                      </a:pPr>
                      <a:r>
                        <a:rPr dirty="0" sz="1500" spc="-20">
                          <a:solidFill>
                            <a:srgbClr val="1A1A1A"/>
                          </a:solidFill>
                          <a:latin typeface="Arial Black"/>
                          <a:cs typeface="Arial Black"/>
                        </a:rPr>
                        <a:t>Time </a:t>
                      </a:r>
                      <a:r>
                        <a:rPr dirty="0" sz="1500" spc="-70">
                          <a:solidFill>
                            <a:srgbClr val="1A1A1A"/>
                          </a:solidFill>
                          <a:latin typeface="Arial Black"/>
                          <a:cs typeface="Arial Black"/>
                        </a:rPr>
                        <a:t>Complexity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1270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Slow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Fastest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Slowest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Efficient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165100" marR="158115" indent="266065">
                        <a:lnSpc>
                          <a:spcPts val="2110"/>
                        </a:lnSpc>
                        <a:spcBef>
                          <a:spcPts val="10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Arial Black"/>
                          <a:cs typeface="Arial Black"/>
                        </a:rPr>
                        <a:t>Space </a:t>
                      </a:r>
                      <a:r>
                        <a:rPr dirty="0" sz="1500" spc="-70">
                          <a:solidFill>
                            <a:srgbClr val="1A1A1A"/>
                          </a:solidFill>
                          <a:latin typeface="Arial Black"/>
                          <a:cs typeface="Arial Black"/>
                        </a:rPr>
                        <a:t>Complexity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1270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High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Medium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Low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Medium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Arial Black"/>
                          <a:cs typeface="Arial Black"/>
                        </a:rPr>
                        <a:t>Steps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High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Highest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25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Low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500" spc="-10">
                          <a:solidFill>
                            <a:srgbClr val="1A1A1A"/>
                          </a:solidFill>
                          <a:latin typeface="Lucida Sans Unicode"/>
                          <a:cs typeface="Lucida Sans Unicode"/>
                        </a:rPr>
                        <a:t>Lowest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6830">
                    <a:lnL w="6350">
                      <a:solidFill>
                        <a:srgbClr val="A8A8A8"/>
                      </a:solidFill>
                      <a:prstDash val="solid"/>
                    </a:lnL>
                    <a:lnR w="6350">
                      <a:solidFill>
                        <a:srgbClr val="A8A8A8"/>
                      </a:solidFill>
                      <a:prstDash val="solid"/>
                    </a:lnR>
                    <a:lnT w="6350">
                      <a:solidFill>
                        <a:srgbClr val="A8A8A8"/>
                      </a:solidFill>
                      <a:prstDash val="solid"/>
                    </a:lnT>
                    <a:lnB w="6350">
                      <a:solidFill>
                        <a:srgbClr val="A8A8A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741" y="135232"/>
            <a:ext cx="2815590" cy="4603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spc="-85" i="1">
                <a:latin typeface="Trebuchet MS"/>
                <a:cs typeface="Trebuchet MS"/>
              </a:rPr>
              <a:t>Wh</a:t>
            </a:r>
            <a:r>
              <a:rPr dirty="0" sz="2650" spc="-85" i="1">
                <a:latin typeface="Constantia"/>
                <a:cs typeface="Constantia"/>
              </a:rPr>
              <a:t>y</a:t>
            </a:r>
            <a:r>
              <a:rPr dirty="0" sz="2650" spc="-180" i="1">
                <a:latin typeface="Constantia"/>
                <a:cs typeface="Constantia"/>
              </a:rPr>
              <a:t> </a:t>
            </a:r>
            <a:r>
              <a:rPr dirty="0" sz="2850" i="1">
                <a:latin typeface="Trebuchet MS"/>
                <a:cs typeface="Trebuchet MS"/>
              </a:rPr>
              <a:t>A</a:t>
            </a:r>
            <a:r>
              <a:rPr dirty="0" sz="2850" spc="-440" i="1">
                <a:latin typeface="Trebuchet MS"/>
                <a:cs typeface="Trebuchet MS"/>
              </a:rPr>
              <a:t> </a:t>
            </a:r>
            <a:r>
              <a:rPr dirty="0" spc="-55" i="1">
                <a:latin typeface="Palatino Linotype"/>
                <a:cs typeface="Palatino Linotype"/>
              </a:rPr>
              <a:t>*</a:t>
            </a:r>
            <a:r>
              <a:rPr dirty="0" spc="-190" i="1">
                <a:latin typeface="Palatino Linotype"/>
                <a:cs typeface="Palatino Linotype"/>
              </a:rPr>
              <a:t> </a:t>
            </a:r>
            <a:r>
              <a:rPr dirty="0" sz="2850" spc="-200" i="1">
                <a:latin typeface="Trebuchet MS"/>
                <a:cs typeface="Trebuchet MS"/>
              </a:rPr>
              <a:t>is</a:t>
            </a:r>
            <a:r>
              <a:rPr dirty="0" sz="2850" spc="-340" i="1">
                <a:latin typeface="Trebuchet MS"/>
                <a:cs typeface="Trebuchet MS"/>
              </a:rPr>
              <a:t> </a:t>
            </a:r>
            <a:r>
              <a:rPr dirty="0" sz="2650" spc="-90" i="1">
                <a:latin typeface="Constantia"/>
                <a:cs typeface="Constantia"/>
              </a:rPr>
              <a:t>t</a:t>
            </a:r>
            <a:r>
              <a:rPr dirty="0" sz="2850" spc="-90" i="1">
                <a:latin typeface="Trebuchet MS"/>
                <a:cs typeface="Trebuchet MS"/>
              </a:rPr>
              <a:t>he</a:t>
            </a:r>
            <a:r>
              <a:rPr dirty="0" sz="2850" spc="-295" i="1">
                <a:latin typeface="Trebuchet MS"/>
                <a:cs typeface="Trebuchet MS"/>
              </a:rPr>
              <a:t> </a:t>
            </a:r>
            <a:r>
              <a:rPr dirty="0" sz="2850" spc="-60" i="1">
                <a:latin typeface="Trebuchet MS"/>
                <a:cs typeface="Trebuchet MS"/>
              </a:rPr>
              <a:t>Bes</a:t>
            </a:r>
            <a:r>
              <a:rPr dirty="0" sz="2650" spc="-60" i="1">
                <a:latin typeface="Constantia"/>
                <a:cs typeface="Constantia"/>
              </a:rPr>
              <a:t>t</a:t>
            </a:r>
            <a:endParaRPr sz="2650">
              <a:latin typeface="Constantia"/>
              <a:cs typeface="Constantia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88900">
              <a:lnSpc>
                <a:spcPct val="119000"/>
              </a:lnSpc>
              <a:spcBef>
                <a:spcPts val="100"/>
              </a:spcBef>
            </a:pPr>
            <a:r>
              <a:rPr dirty="0" spc="-65">
                <a:latin typeface="Arial Black"/>
                <a:cs typeface="Arial Black"/>
              </a:rPr>
              <a:t>Maximum</a:t>
            </a:r>
            <a:r>
              <a:rPr dirty="0" spc="-100">
                <a:latin typeface="Arial Black"/>
                <a:cs typeface="Arial Black"/>
              </a:rPr>
              <a:t> </a:t>
            </a:r>
            <a:r>
              <a:rPr dirty="0" spc="-110">
                <a:latin typeface="Arial Black"/>
                <a:cs typeface="Arial Black"/>
              </a:rPr>
              <a:t>Efficiency</a:t>
            </a:r>
            <a:r>
              <a:rPr dirty="0" spc="-110"/>
              <a:t>:</a:t>
            </a:r>
            <a:r>
              <a:rPr dirty="0" spc="-75"/>
              <a:t> </a:t>
            </a:r>
            <a:r>
              <a:rPr dirty="0"/>
              <a:t>It</a:t>
            </a:r>
            <a:r>
              <a:rPr dirty="0" spc="-75"/>
              <a:t> </a:t>
            </a:r>
            <a:r>
              <a:rPr dirty="0" spc="-25"/>
              <a:t>achieved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20"/>
              <a:t>goal</a:t>
            </a:r>
            <a:r>
              <a:rPr dirty="0" spc="-75"/>
              <a:t> </a:t>
            </a:r>
            <a:r>
              <a:rPr dirty="0" spc="-30"/>
              <a:t>in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 spc="-20"/>
              <a:t>fewest</a:t>
            </a:r>
            <a:r>
              <a:rPr dirty="0" spc="-75"/>
              <a:t> </a:t>
            </a:r>
            <a:r>
              <a:rPr dirty="0" spc="-30"/>
              <a:t>steps</a:t>
            </a:r>
            <a:r>
              <a:rPr dirty="0" spc="-70"/>
              <a:t> </a:t>
            </a:r>
            <a:r>
              <a:rPr dirty="0" spc="-90"/>
              <a:t>(</a:t>
            </a:r>
            <a:r>
              <a:rPr dirty="0" spc="-90">
                <a:latin typeface="Arial Black"/>
                <a:cs typeface="Arial Black"/>
              </a:rPr>
              <a:t>2</a:t>
            </a:r>
            <a:r>
              <a:rPr dirty="0" spc="-95">
                <a:latin typeface="Arial Black"/>
                <a:cs typeface="Arial Black"/>
              </a:rPr>
              <a:t> </a:t>
            </a:r>
            <a:r>
              <a:rPr dirty="0" spc="-10">
                <a:latin typeface="Arial Black"/>
                <a:cs typeface="Arial Black"/>
              </a:rPr>
              <a:t>steps</a:t>
            </a:r>
            <a:r>
              <a:rPr dirty="0" spc="-10"/>
              <a:t>). </a:t>
            </a:r>
            <a:r>
              <a:rPr dirty="0" spc="-90">
                <a:latin typeface="Arial Black"/>
                <a:cs typeface="Arial Black"/>
              </a:rPr>
              <a:t>Heuristic</a:t>
            </a:r>
            <a:r>
              <a:rPr dirty="0" spc="-85">
                <a:latin typeface="Arial Black"/>
                <a:cs typeface="Arial Black"/>
              </a:rPr>
              <a:t> </a:t>
            </a:r>
            <a:r>
              <a:rPr dirty="0" spc="-80">
                <a:latin typeface="Arial Black"/>
                <a:cs typeface="Arial Black"/>
              </a:rPr>
              <a:t>Intelligence</a:t>
            </a:r>
            <a:r>
              <a:rPr dirty="0" spc="-80"/>
              <a:t>:</a:t>
            </a:r>
            <a:r>
              <a:rPr dirty="0" spc="-55"/>
              <a:t> </a:t>
            </a:r>
            <a:r>
              <a:rPr dirty="0" spc="-25"/>
              <a:t>Unlike</a:t>
            </a:r>
            <a:r>
              <a:rPr dirty="0" spc="-60"/>
              <a:t> </a:t>
            </a:r>
            <a:r>
              <a:rPr dirty="0" spc="-10"/>
              <a:t>"blind"</a:t>
            </a:r>
            <a:r>
              <a:rPr dirty="0" spc="-55"/>
              <a:t> </a:t>
            </a:r>
            <a:r>
              <a:rPr dirty="0" spc="-25"/>
              <a:t>searches</a:t>
            </a:r>
            <a:r>
              <a:rPr dirty="0" spc="-55"/>
              <a:t> </a:t>
            </a:r>
            <a:r>
              <a:rPr dirty="0" spc="-30"/>
              <a:t>(BFS/IDS),</a:t>
            </a:r>
            <a:r>
              <a:rPr dirty="0" spc="-60"/>
              <a:t> </a:t>
            </a:r>
            <a:r>
              <a:rPr dirty="0"/>
              <a:t>A*</a:t>
            </a:r>
            <a:r>
              <a:rPr dirty="0" spc="-55"/>
              <a:t> </a:t>
            </a:r>
            <a:r>
              <a:rPr dirty="0" spc="-25"/>
              <a:t>uses</a:t>
            </a:r>
            <a:r>
              <a:rPr dirty="0" spc="-60"/>
              <a:t> </a:t>
            </a:r>
            <a:r>
              <a:rPr dirty="0" spc="-25"/>
              <a:t>the </a:t>
            </a:r>
            <a:r>
              <a:rPr dirty="0" spc="-55">
                <a:latin typeface="Arial Black"/>
                <a:cs typeface="Arial Black"/>
              </a:rPr>
              <a:t>Manhattan</a:t>
            </a:r>
            <a:r>
              <a:rPr dirty="0" spc="-105">
                <a:latin typeface="Arial Black"/>
                <a:cs typeface="Arial Black"/>
              </a:rPr>
              <a:t> Distance </a:t>
            </a:r>
            <a:r>
              <a:rPr dirty="0" spc="-20"/>
              <a:t>to</a:t>
            </a:r>
            <a:r>
              <a:rPr dirty="0" spc="-75"/>
              <a:t> </a:t>
            </a:r>
            <a:r>
              <a:rPr dirty="0" spc="-20"/>
              <a:t>estimate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 spc="-25"/>
              <a:t>distance</a:t>
            </a:r>
            <a:r>
              <a:rPr dirty="0" spc="-80"/>
              <a:t> </a:t>
            </a:r>
            <a:r>
              <a:rPr dirty="0" spc="-20"/>
              <a:t>to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35"/>
              <a:t>goal,</a:t>
            </a:r>
            <a:r>
              <a:rPr dirty="0" spc="-75"/>
              <a:t> </a:t>
            </a:r>
            <a:r>
              <a:rPr dirty="0" spc="-30"/>
              <a:t>allowing</a:t>
            </a:r>
            <a:r>
              <a:rPr dirty="0" spc="-80"/>
              <a:t> </a:t>
            </a:r>
            <a:r>
              <a:rPr dirty="0" spc="-40"/>
              <a:t>it</a:t>
            </a:r>
            <a:r>
              <a:rPr dirty="0" spc="-75"/>
              <a:t> </a:t>
            </a:r>
            <a:r>
              <a:rPr dirty="0" spc="-20"/>
              <a:t>to</a:t>
            </a:r>
            <a:r>
              <a:rPr dirty="0" spc="-80"/>
              <a:t> </a:t>
            </a:r>
            <a:r>
              <a:rPr dirty="0" spc="-10"/>
              <a:t>ignore </a:t>
            </a:r>
            <a:r>
              <a:rPr dirty="0" spc="-25"/>
              <a:t>irrelevant </a:t>
            </a:r>
            <a:r>
              <a:rPr dirty="0" spc="-10"/>
              <a:t>paths.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pc="-85">
                <a:latin typeface="Arial Black"/>
                <a:cs typeface="Arial Black"/>
              </a:rPr>
              <a:t>Guaranteed</a:t>
            </a:r>
            <a:r>
              <a:rPr dirty="0" spc="-90">
                <a:latin typeface="Arial Black"/>
                <a:cs typeface="Arial Black"/>
              </a:rPr>
              <a:t> </a:t>
            </a:r>
            <a:r>
              <a:rPr dirty="0" spc="-65">
                <a:latin typeface="Arial Black"/>
                <a:cs typeface="Arial Black"/>
              </a:rPr>
              <a:t>Quality</a:t>
            </a:r>
            <a:r>
              <a:rPr dirty="0" spc="-65"/>
              <a:t>: </a:t>
            </a:r>
            <a:r>
              <a:rPr dirty="0"/>
              <a:t>It</a:t>
            </a:r>
            <a:r>
              <a:rPr dirty="0" spc="-65"/>
              <a:t> </a:t>
            </a:r>
            <a:r>
              <a:rPr dirty="0" spc="-55"/>
              <a:t>is</a:t>
            </a:r>
            <a:r>
              <a:rPr dirty="0" spc="-65"/>
              <a:t> </a:t>
            </a:r>
            <a:r>
              <a:rPr dirty="0" spc="-20"/>
              <a:t>both</a:t>
            </a:r>
            <a:r>
              <a:rPr dirty="0" spc="-60"/>
              <a:t> </a:t>
            </a:r>
            <a:r>
              <a:rPr dirty="0" spc="-90">
                <a:latin typeface="Arial Black"/>
                <a:cs typeface="Arial Black"/>
              </a:rPr>
              <a:t>Complete</a:t>
            </a:r>
            <a:r>
              <a:rPr dirty="0" spc="-85">
                <a:latin typeface="Arial Black"/>
                <a:cs typeface="Arial Black"/>
              </a:rPr>
              <a:t> </a:t>
            </a:r>
            <a:r>
              <a:rPr dirty="0" spc="-20"/>
              <a:t>(always</a:t>
            </a:r>
            <a:r>
              <a:rPr dirty="0" spc="-65"/>
              <a:t> </a:t>
            </a:r>
            <a:r>
              <a:rPr dirty="0" spc="-35"/>
              <a:t>finds</a:t>
            </a:r>
            <a:r>
              <a:rPr dirty="0" spc="-65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 spc="-30"/>
              <a:t>solution)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 spc="-25">
                <a:latin typeface="Arial Black"/>
                <a:cs typeface="Arial Black"/>
              </a:rPr>
              <a:t>Optimal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pc="-20"/>
              <a:t>(always</a:t>
            </a:r>
            <a:r>
              <a:rPr dirty="0" spc="-85"/>
              <a:t> </a:t>
            </a:r>
            <a:r>
              <a:rPr dirty="0" spc="-35"/>
              <a:t>finds</a:t>
            </a:r>
            <a:r>
              <a:rPr dirty="0" spc="-85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30" i="1">
                <a:latin typeface="Trebuchet MS"/>
                <a:cs typeface="Trebuchet MS"/>
              </a:rPr>
              <a:t>shortest</a:t>
            </a:r>
            <a:r>
              <a:rPr dirty="0" spc="-60" i="1">
                <a:latin typeface="Trebuchet MS"/>
                <a:cs typeface="Trebuchet MS"/>
              </a:rPr>
              <a:t> </a:t>
            </a:r>
            <a:r>
              <a:rPr dirty="0" spc="-10"/>
              <a:t>path).</a:t>
            </a: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pc="-65">
                <a:latin typeface="Arial Black"/>
                <a:cs typeface="Arial Black"/>
              </a:rPr>
              <a:t>Optimal</a:t>
            </a:r>
            <a:r>
              <a:rPr dirty="0" spc="-95">
                <a:latin typeface="Arial Black"/>
                <a:cs typeface="Arial Black"/>
              </a:rPr>
              <a:t> </a:t>
            </a:r>
            <a:r>
              <a:rPr dirty="0" spc="-120">
                <a:latin typeface="Arial Black"/>
                <a:cs typeface="Arial Black"/>
              </a:rPr>
              <a:t>Balance</a:t>
            </a:r>
            <a:r>
              <a:rPr dirty="0" spc="-120"/>
              <a:t>:</a:t>
            </a:r>
            <a:r>
              <a:rPr dirty="0" spc="-65"/>
              <a:t> </a:t>
            </a:r>
            <a:r>
              <a:rPr dirty="0"/>
              <a:t>It</a:t>
            </a:r>
            <a:r>
              <a:rPr dirty="0" spc="-65"/>
              <a:t> </a:t>
            </a:r>
            <a:r>
              <a:rPr dirty="0" spc="-35"/>
              <a:t>provides</a:t>
            </a:r>
            <a:r>
              <a:rPr dirty="0" spc="-65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 spc="-10"/>
              <a:t>better</a:t>
            </a:r>
            <a:r>
              <a:rPr dirty="0" spc="-65"/>
              <a:t> </a:t>
            </a:r>
            <a:r>
              <a:rPr dirty="0" spc="-20"/>
              <a:t>balance</a:t>
            </a:r>
            <a:r>
              <a:rPr dirty="0" spc="-65"/>
              <a:t> </a:t>
            </a:r>
            <a:r>
              <a:rPr dirty="0"/>
              <a:t>between</a:t>
            </a:r>
            <a:r>
              <a:rPr dirty="0" spc="-60"/>
              <a:t> </a:t>
            </a:r>
            <a:r>
              <a:rPr dirty="0" spc="-114">
                <a:latin typeface="Arial Black"/>
                <a:cs typeface="Arial Black"/>
              </a:rPr>
              <a:t>Time</a:t>
            </a:r>
            <a:r>
              <a:rPr dirty="0" spc="-90">
                <a:latin typeface="Arial Black"/>
                <a:cs typeface="Arial Black"/>
              </a:rPr>
              <a:t> Complexity</a:t>
            </a:r>
            <a:r>
              <a:rPr dirty="0" spc="-85">
                <a:latin typeface="Arial Black"/>
                <a:cs typeface="Arial Black"/>
              </a:rPr>
              <a:t> </a:t>
            </a:r>
            <a:r>
              <a:rPr dirty="0" spc="-25"/>
              <a:t>and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pc="-160">
                <a:latin typeface="Arial Black"/>
                <a:cs typeface="Arial Black"/>
              </a:rPr>
              <a:t>Space</a:t>
            </a:r>
            <a:r>
              <a:rPr dirty="0" spc="-100">
                <a:latin typeface="Arial Black"/>
                <a:cs typeface="Arial Black"/>
              </a:rPr>
              <a:t> </a:t>
            </a:r>
            <a:r>
              <a:rPr dirty="0" spc="-90">
                <a:latin typeface="Arial Black"/>
                <a:cs typeface="Arial Black"/>
              </a:rPr>
              <a:t>Complexity </a:t>
            </a:r>
            <a:r>
              <a:rPr dirty="0" spc="-20"/>
              <a:t>compared</a:t>
            </a:r>
            <a:r>
              <a:rPr dirty="0" spc="-75"/>
              <a:t> </a:t>
            </a:r>
            <a:r>
              <a:rPr dirty="0" spc="-20"/>
              <a:t>to</a:t>
            </a:r>
            <a:r>
              <a:rPr dirty="0" spc="-70"/>
              <a:t> </a:t>
            </a:r>
            <a:r>
              <a:rPr dirty="0"/>
              <a:t>BFS,</a:t>
            </a:r>
            <a:r>
              <a:rPr dirty="0" spc="-70"/>
              <a:t> </a:t>
            </a:r>
            <a:r>
              <a:rPr dirty="0" spc="-20"/>
              <a:t>which</a:t>
            </a:r>
            <a:r>
              <a:rPr dirty="0" spc="-75"/>
              <a:t> </a:t>
            </a:r>
            <a:r>
              <a:rPr dirty="0" spc="-10"/>
              <a:t>can</a:t>
            </a:r>
            <a:r>
              <a:rPr dirty="0" spc="-70"/>
              <a:t> </a:t>
            </a:r>
            <a:r>
              <a:rPr dirty="0" spc="-30"/>
              <a:t>easily</a:t>
            </a:r>
            <a:r>
              <a:rPr dirty="0" spc="-75"/>
              <a:t> </a:t>
            </a:r>
            <a:r>
              <a:rPr dirty="0" spc="-35"/>
              <a:t>exhaust</a:t>
            </a:r>
            <a:r>
              <a:rPr dirty="0" spc="-70"/>
              <a:t> </a:t>
            </a:r>
            <a:r>
              <a:rPr dirty="0" spc="-10"/>
              <a:t>memory.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444241" y="97330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30777" y="54393"/>
                </a:moveTo>
                <a:lnTo>
                  <a:pt x="23570" y="54393"/>
                </a:lnTo>
                <a:lnTo>
                  <a:pt x="20104" y="53703"/>
                </a:lnTo>
                <a:lnTo>
                  <a:pt x="0" y="30803"/>
                </a:lnTo>
                <a:lnTo>
                  <a:pt x="0" y="23590"/>
                </a:lnTo>
                <a:lnTo>
                  <a:pt x="23570" y="0"/>
                </a:lnTo>
                <a:lnTo>
                  <a:pt x="30777" y="0"/>
                </a:lnTo>
                <a:lnTo>
                  <a:pt x="54348" y="27196"/>
                </a:lnTo>
                <a:lnTo>
                  <a:pt x="54348" y="30803"/>
                </a:lnTo>
                <a:lnTo>
                  <a:pt x="30777" y="543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44241" y="124527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09">
                <a:moveTo>
                  <a:pt x="30777" y="54393"/>
                </a:moveTo>
                <a:lnTo>
                  <a:pt x="23570" y="54393"/>
                </a:lnTo>
                <a:lnTo>
                  <a:pt x="20104" y="53703"/>
                </a:lnTo>
                <a:lnTo>
                  <a:pt x="0" y="30803"/>
                </a:lnTo>
                <a:lnTo>
                  <a:pt x="0" y="23590"/>
                </a:lnTo>
                <a:lnTo>
                  <a:pt x="23570" y="0"/>
                </a:lnTo>
                <a:lnTo>
                  <a:pt x="30777" y="0"/>
                </a:lnTo>
                <a:lnTo>
                  <a:pt x="54348" y="27196"/>
                </a:lnTo>
                <a:lnTo>
                  <a:pt x="54348" y="30803"/>
                </a:lnTo>
                <a:lnTo>
                  <a:pt x="30777" y="543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44241" y="206117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30777" y="54393"/>
                </a:moveTo>
                <a:lnTo>
                  <a:pt x="23570" y="54393"/>
                </a:lnTo>
                <a:lnTo>
                  <a:pt x="20104" y="53703"/>
                </a:lnTo>
                <a:lnTo>
                  <a:pt x="0" y="30803"/>
                </a:lnTo>
                <a:lnTo>
                  <a:pt x="0" y="23590"/>
                </a:lnTo>
                <a:lnTo>
                  <a:pt x="23570" y="0"/>
                </a:lnTo>
                <a:lnTo>
                  <a:pt x="30777" y="0"/>
                </a:lnTo>
                <a:lnTo>
                  <a:pt x="54348" y="27196"/>
                </a:lnTo>
                <a:lnTo>
                  <a:pt x="54348" y="30803"/>
                </a:lnTo>
                <a:lnTo>
                  <a:pt x="30777" y="543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44241" y="260511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30777" y="54393"/>
                </a:moveTo>
                <a:lnTo>
                  <a:pt x="23570" y="54393"/>
                </a:lnTo>
                <a:lnTo>
                  <a:pt x="20104" y="53703"/>
                </a:lnTo>
                <a:lnTo>
                  <a:pt x="0" y="30803"/>
                </a:lnTo>
                <a:lnTo>
                  <a:pt x="0" y="23590"/>
                </a:lnTo>
                <a:lnTo>
                  <a:pt x="23570" y="0"/>
                </a:lnTo>
                <a:lnTo>
                  <a:pt x="30777" y="0"/>
                </a:lnTo>
                <a:lnTo>
                  <a:pt x="54348" y="27196"/>
                </a:lnTo>
                <a:lnTo>
                  <a:pt x="54348" y="30803"/>
                </a:lnTo>
                <a:lnTo>
                  <a:pt x="30777" y="543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523" y="1441837"/>
            <a:ext cx="2155825" cy="727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670" i="1">
                <a:latin typeface="Trebuchet MS"/>
                <a:cs typeface="Trebuchet MS"/>
              </a:rPr>
              <a:t>Thank</a:t>
            </a:r>
            <a:r>
              <a:rPr dirty="0" sz="4600" spc="-265" i="1">
                <a:latin typeface="Trebuchet MS"/>
                <a:cs typeface="Trebuchet MS"/>
              </a:rPr>
              <a:t> </a:t>
            </a:r>
            <a:r>
              <a:rPr dirty="0" sz="4600" spc="-1019" i="1">
                <a:latin typeface="Trebuchet MS"/>
                <a:cs typeface="Trebuchet MS"/>
              </a:rPr>
              <a:t>You</a:t>
            </a:r>
            <a:endParaRPr sz="46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9507" y="0"/>
            <a:ext cx="4260529" cy="45079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2025-12-17T17:47:19Z</dcterms:created>
  <dcterms:modified xsi:type="dcterms:W3CDTF">2025-12-17T17:47:19Z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LastSaved">
    <vt:filetime>2025-12-17T00:00:00Z</vt:filetime>
  </property>
</Properties>
</file>